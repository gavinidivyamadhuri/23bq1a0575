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'Good morning/afternoon sir. Our project is called Cloud-Based Healthcare Appointment Booking System. It is a website that lets patients book doctor appointments online, built using AWS cloud services. I am presenting this along with my team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this presentation I will first explain the problem we are solving, then our solution, the main features, the AWS services we used, how the system works, future improvements, and finally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'Right now, booking a doctor's appointment is manual - by calling or visiting the hospital. This wastes time and causes long queues. Patients also cannot see which doctor is free, and sometimes two patients get the same time slot by mistake. Our project is built to solve exactly these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explanation: Our project is a website where a patient can log in, search for a doctor, see free time slots, and book an appointment instantly. As soon as it is booked, the patient gets an email or SMS confirmation. Everything - the login, the data, the notification - runs on AWS cloud, so we did not have to buy or manage our own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explanation of each feature: Secure Login means only genuine patients and doctors can enter the app. Doctor Search lets a patient quickly find the right doctor. Instant Booking means the slot is booked immediately with no double-booking. Auto Notifications send a confirmation message right after booking. Health Records keep a history of past appointments. Runs on Cloud means the whole app is hosted on AWS, so it stays fast even with many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sir asks 'what is this service', explain it like this in your own words:
- Cognito: it is like a security guard. It checks username/password (or Google login) before letting someone in.
- API Gateway: think of it as the main door. The website sends a request through this door to reach our code.
- Lambda: this is where our actual code runs - for example, the code that books a slot. We don't need to keep a computer/server running all the time; AWS runs the code only when needed, which saves cost.
- DynamoDB: this is our database, like an Excel sheet in the cloud, where we store patient names, doctor names, and appointment times.
- S3: this is cloud storage, like Google Drive, where we keep files such as photos or documents.
- SES / SNS: these send the email (SES) and SMS (SNS) to the patient once the booking is done.
Simple one-line summary if sir wants it short: 'We used AWS Cognito for login, Lambda for backend logic, DynamoDB for the database, S3 for file storage, and SES/SNS for sending notifications - all connected through API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diagram shows how the system works step by step. The patient opens the Frontend Web App and logs in through Cognito. The request then goes through API Gateway - the main door - to Lambda, which is our backend code. Lambda then saves the appointment in DynamoDB, keeps any files in S3, and sends a confirmation using SES/SNS.' If sir asks why we didn't use our own server, say: 'This is a serverless design - AWS runs our code only when needed, so it is cheaper and automatically handles many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are the improvements we plan to add in the future - a mobile app, video consultation with doctors, AI-based doctor suggestions, online payment for consultation fees, and support for more than one hospital.'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conclude, our project makes booking a doctor's appointment fast, easy, and error-free. It removes long queues, prevents double-booking, and because it is built on AWS cloud, it can easily grow to support many more users in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 you sir for listening. I am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647"/>
        </a:solidFill>
      </p:bgPr>
    </p:bg>
    <p:spTree>
      <p:nvGrpSpPr>
        <p:cNvPr id="1" name=""/>
        <p:cNvGrpSpPr/>
        <p:nvPr/>
      </p:nvGrpSpPr>
      <p:grpSpPr>
        <a:xfrm>
          <a:off x="0" y="0"/>
          <a:ext cx="0" cy="0"/>
          <a:chOff x="0" y="0"/>
          <a:chExt cx="0" cy="0"/>
        </a:xfrm>
      </p:grpSpPr>
      <p:sp>
        <p:nvSpPr>
          <p:cNvPr id="2" name="Shape 0"/>
          <p:cNvSpPr/>
          <p:nvPr/>
        </p:nvSpPr>
        <p:spPr>
          <a:xfrm>
            <a:off x="7863840" y="-2011680"/>
            <a:ext cx="8686800" cy="8686800"/>
          </a:xfrm>
          <a:prstGeom prst="ellipse">
            <a:avLst/>
          </a:prstGeom>
          <a:solidFill>
            <a:srgbClr val="144272">
              <a:alpha val="65000"/>
            </a:srgbClr>
          </a:solidFill>
          <a:ln/>
        </p:spPr>
      </p:sp>
      <p:sp>
        <p:nvSpPr>
          <p:cNvPr id="3" name="Shape 1"/>
          <p:cNvSpPr/>
          <p:nvPr/>
        </p:nvSpPr>
        <p:spPr>
          <a:xfrm>
            <a:off x="8778240" y="-914400"/>
            <a:ext cx="6583680" cy="6583680"/>
          </a:xfrm>
          <a:prstGeom prst="ellipse">
            <a:avLst/>
          </a:prstGeom>
          <a:solidFill>
            <a:srgbClr val="205295">
              <a:alpha val="60000"/>
            </a:srgbClr>
          </a:solidFill>
          <a:ln/>
        </p:spPr>
      </p:sp>
      <p:sp>
        <p:nvSpPr>
          <p:cNvPr id="4" name="Shape 2"/>
          <p:cNvSpPr/>
          <p:nvPr/>
        </p:nvSpPr>
        <p:spPr>
          <a:xfrm>
            <a:off x="9692640" y="182880"/>
            <a:ext cx="4572000" cy="4572000"/>
          </a:xfrm>
          <a:prstGeom prst="ellipse">
            <a:avLst/>
          </a:prstGeom>
          <a:solidFill>
            <a:srgbClr val="2C74B3">
              <a:alpha val="55000"/>
            </a:srgbClr>
          </a:solidFill>
          <a:ln/>
        </p:spPr>
      </p:sp>
      <p:sp>
        <p:nvSpPr>
          <p:cNvPr id="5" name="Shape 3"/>
          <p:cNvSpPr/>
          <p:nvPr/>
        </p:nvSpPr>
        <p:spPr>
          <a:xfrm>
            <a:off x="9052560" y="-548640"/>
            <a:ext cx="5852160" cy="5852160"/>
          </a:xfrm>
          <a:prstGeom prst="ellipse">
            <a:avLst/>
          </a:prstGeom>
          <a:ln w="15875">
            <a:solidFill>
              <a:srgbClr val="5DE0E6">
                <a:alpha val="60000"/>
              </a:srgbClr>
            </a:solidFill>
            <a:prstDash val="solid"/>
          </a:ln>
        </p:spPr>
      </p:sp>
      <p:sp>
        <p:nvSpPr>
          <p:cNvPr id="6" name="Shape 4"/>
          <p:cNvSpPr/>
          <p:nvPr/>
        </p:nvSpPr>
        <p:spPr>
          <a:xfrm>
            <a:off x="10607040" y="4206240"/>
            <a:ext cx="2377440" cy="2377440"/>
          </a:xfrm>
          <a:prstGeom prst="ellipse">
            <a:avLst/>
          </a:prstGeom>
          <a:ln w="12700">
            <a:solidFill>
              <a:srgbClr val="FFFFFF">
                <a:alpha val="45000"/>
              </a:srgbClr>
            </a:solidFill>
            <a:prstDash val="solid"/>
          </a:ln>
        </p:spPr>
      </p:sp>
      <p:sp>
        <p:nvSpPr>
          <p:cNvPr id="7" name="Shape 5"/>
          <p:cNvSpPr/>
          <p:nvPr/>
        </p:nvSpPr>
        <p:spPr>
          <a:xfrm>
            <a:off x="8503920" y="914400"/>
            <a:ext cx="54864" cy="54864"/>
          </a:xfrm>
          <a:prstGeom prst="ellipse">
            <a:avLst/>
          </a:prstGeom>
          <a:solidFill>
            <a:srgbClr val="FFFFFF">
              <a:alpha val="75000"/>
            </a:srgbClr>
          </a:solidFill>
          <a:ln/>
        </p:spPr>
      </p:sp>
      <p:sp>
        <p:nvSpPr>
          <p:cNvPr id="8" name="Shape 6"/>
          <p:cNvSpPr/>
          <p:nvPr/>
        </p:nvSpPr>
        <p:spPr>
          <a:xfrm>
            <a:off x="11795760" y="548640"/>
            <a:ext cx="45720" cy="45720"/>
          </a:xfrm>
          <a:prstGeom prst="ellipse">
            <a:avLst/>
          </a:prstGeom>
          <a:solidFill>
            <a:srgbClr val="FFFFFF">
              <a:alpha val="75000"/>
            </a:srgbClr>
          </a:solidFill>
          <a:ln/>
        </p:spPr>
      </p:sp>
      <p:sp>
        <p:nvSpPr>
          <p:cNvPr id="9" name="Shape 7"/>
          <p:cNvSpPr/>
          <p:nvPr/>
        </p:nvSpPr>
        <p:spPr>
          <a:xfrm>
            <a:off x="9326880" y="5394960"/>
            <a:ext cx="45720" cy="45720"/>
          </a:xfrm>
          <a:prstGeom prst="ellipse">
            <a:avLst/>
          </a:prstGeom>
          <a:solidFill>
            <a:srgbClr val="FFFFFF">
              <a:alpha val="75000"/>
            </a:srgbClr>
          </a:solidFill>
          <a:ln/>
        </p:spPr>
      </p:sp>
      <p:sp>
        <p:nvSpPr>
          <p:cNvPr id="10" name="Shape 8"/>
          <p:cNvSpPr/>
          <p:nvPr/>
        </p:nvSpPr>
        <p:spPr>
          <a:xfrm>
            <a:off x="12161520" y="3108960"/>
            <a:ext cx="54864" cy="54864"/>
          </a:xfrm>
          <a:prstGeom prst="ellipse">
            <a:avLst/>
          </a:prstGeom>
          <a:solidFill>
            <a:srgbClr val="FFFFFF">
              <a:alpha val="75000"/>
            </a:srgbClr>
          </a:solidFill>
          <a:ln/>
        </p:spPr>
      </p:sp>
      <p:sp>
        <p:nvSpPr>
          <p:cNvPr id="11" name="Shape 9"/>
          <p:cNvSpPr/>
          <p:nvPr/>
        </p:nvSpPr>
        <p:spPr>
          <a:xfrm>
            <a:off x="8229600" y="4023360"/>
            <a:ext cx="45720" cy="45720"/>
          </a:xfrm>
          <a:prstGeom prst="ellipse">
            <a:avLst/>
          </a:prstGeom>
          <a:solidFill>
            <a:srgbClr val="FFFFFF">
              <a:alpha val="75000"/>
            </a:srgbClr>
          </a:solidFill>
          <a:ln/>
        </p:spPr>
      </p:sp>
      <p:sp>
        <p:nvSpPr>
          <p:cNvPr id="12" name="Shape 10"/>
          <p:cNvSpPr/>
          <p:nvPr/>
        </p:nvSpPr>
        <p:spPr>
          <a:xfrm>
            <a:off x="10561320" y="502920"/>
            <a:ext cx="1371600" cy="1371600"/>
          </a:xfrm>
          <a:prstGeom prst="ellipse">
            <a:avLst/>
          </a:prstGeom>
          <a:solidFill>
            <a:srgbClr val="205295"/>
          </a:solidFill>
          <a:ln/>
          <a:effectLst>
            <a:outerShdw sx="100000" sy="100000" kx="0" ky="0" algn="bl" rotWithShape="0" blurRad="101600" dist="38100" dir="5400000">
              <a:srgbClr val="000000">
                <a:alpha val="30000"/>
              </a:srgbClr>
            </a:outerShdw>
          </a:effectLst>
        </p:spPr>
      </p:sp>
      <p:pic>
        <p:nvPicPr>
          <p:cNvPr id="13" name="Image 0" descr="/home/claude/icons/hospital.png">    </p:cNvPr>
          <p:cNvPicPr>
            <a:picLocks noChangeAspect="1"/>
          </p:cNvPicPr>
          <p:nvPr/>
        </p:nvPicPr>
        <p:blipFill>
          <a:blip r:embed="rId1"/>
          <a:stretch>
            <a:fillRect/>
          </a:stretch>
        </p:blipFill>
        <p:spPr>
          <a:xfrm>
            <a:off x="10863072" y="804672"/>
            <a:ext cx="768096" cy="768096"/>
          </a:xfrm>
          <a:prstGeom prst="rect">
            <a:avLst/>
          </a:prstGeom>
        </p:spPr>
      </p:pic>
      <p:sp>
        <p:nvSpPr>
          <p:cNvPr id="14" name="Shape 11"/>
          <p:cNvSpPr/>
          <p:nvPr/>
        </p:nvSpPr>
        <p:spPr>
          <a:xfrm>
            <a:off x="9281160" y="2331720"/>
            <a:ext cx="1234440" cy="1234440"/>
          </a:xfrm>
          <a:prstGeom prst="ellipse">
            <a:avLst/>
          </a:prstGeom>
          <a:solidFill>
            <a:srgbClr val="2C74B3"/>
          </a:solidFill>
          <a:ln/>
          <a:effectLst>
            <a:outerShdw sx="100000" sy="100000" kx="0" ky="0" algn="bl" rotWithShape="0" blurRad="101600" dist="38100" dir="5400000">
              <a:srgbClr val="000000">
                <a:alpha val="30000"/>
              </a:srgbClr>
            </a:outerShdw>
          </a:effectLst>
        </p:spPr>
      </p:sp>
      <p:pic>
        <p:nvPicPr>
          <p:cNvPr id="15" name="Image 1" descr="/home/claude/icons/cloud.png">    </p:cNvPr>
          <p:cNvPicPr>
            <a:picLocks noChangeAspect="1"/>
          </p:cNvPicPr>
          <p:nvPr/>
        </p:nvPicPr>
        <p:blipFill>
          <a:blip r:embed="rId2"/>
          <a:stretch>
            <a:fillRect/>
          </a:stretch>
        </p:blipFill>
        <p:spPr>
          <a:xfrm>
            <a:off x="9540392" y="2590952"/>
            <a:ext cx="715975" cy="715975"/>
          </a:xfrm>
          <a:prstGeom prst="rect">
            <a:avLst/>
          </a:prstGeom>
        </p:spPr>
      </p:pic>
      <p:sp>
        <p:nvSpPr>
          <p:cNvPr id="16" name="Shape 12"/>
          <p:cNvSpPr/>
          <p:nvPr/>
        </p:nvSpPr>
        <p:spPr>
          <a:xfrm>
            <a:off x="11018520" y="3520440"/>
            <a:ext cx="1143000" cy="1143000"/>
          </a:xfrm>
          <a:prstGeom prst="ellipse">
            <a:avLst/>
          </a:prstGeom>
          <a:solidFill>
            <a:srgbClr val="0F3460"/>
          </a:solidFill>
          <a:ln/>
          <a:effectLst>
            <a:outerShdw sx="100000" sy="100000" kx="0" ky="0" algn="bl" rotWithShape="0" blurRad="101600" dist="38100" dir="5400000">
              <a:srgbClr val="000000">
                <a:alpha val="30000"/>
              </a:srgbClr>
            </a:outerShdw>
          </a:effectLst>
        </p:spPr>
      </p:sp>
      <p:pic>
        <p:nvPicPr>
          <p:cNvPr id="17" name="Image 2" descr="/home/claude/icons/calendar.png">    </p:cNvPr>
          <p:cNvPicPr>
            <a:picLocks noChangeAspect="1"/>
          </p:cNvPicPr>
          <p:nvPr/>
        </p:nvPicPr>
        <p:blipFill>
          <a:blip r:embed="rId3"/>
          <a:stretch>
            <a:fillRect/>
          </a:stretch>
        </p:blipFill>
        <p:spPr>
          <a:xfrm>
            <a:off x="11281410" y="3783330"/>
            <a:ext cx="617220" cy="617220"/>
          </a:xfrm>
          <a:prstGeom prst="rect">
            <a:avLst/>
          </a:prstGeom>
        </p:spPr>
      </p:pic>
      <p:sp>
        <p:nvSpPr>
          <p:cNvPr id="18" name="Shape 13"/>
          <p:cNvSpPr/>
          <p:nvPr/>
        </p:nvSpPr>
        <p:spPr>
          <a:xfrm>
            <a:off x="8732520" y="5074920"/>
            <a:ext cx="914400" cy="914400"/>
          </a:xfrm>
          <a:prstGeom prst="ellipse">
            <a:avLst/>
          </a:prstGeom>
          <a:solidFill>
            <a:srgbClr val="1B4965"/>
          </a:solidFill>
          <a:ln/>
          <a:effectLst>
            <a:outerShdw sx="100000" sy="100000" kx="0" ky="0" algn="bl" rotWithShape="0" blurRad="101600" dist="38100" dir="5400000">
              <a:srgbClr val="000000">
                <a:alpha val="30000"/>
              </a:srgbClr>
            </a:outerShdw>
          </a:effectLst>
        </p:spPr>
      </p:sp>
      <p:pic>
        <p:nvPicPr>
          <p:cNvPr id="19" name="Image 3" descr="/home/claude/icons/aws.png">    </p:cNvPr>
          <p:cNvPicPr>
            <a:picLocks noChangeAspect="1"/>
          </p:cNvPicPr>
          <p:nvPr/>
        </p:nvPicPr>
        <p:blipFill>
          <a:blip r:embed="rId4"/>
          <a:stretch>
            <a:fillRect/>
          </a:stretch>
        </p:blipFill>
        <p:spPr>
          <a:xfrm>
            <a:off x="8938260" y="5280660"/>
            <a:ext cx="502920" cy="502920"/>
          </a:xfrm>
          <a:prstGeom prst="rect">
            <a:avLst/>
          </a:prstGeom>
        </p:spPr>
      </p:pic>
      <p:sp>
        <p:nvSpPr>
          <p:cNvPr id="20" name="Text 14"/>
          <p:cNvSpPr/>
          <p:nvPr/>
        </p:nvSpPr>
        <p:spPr>
          <a:xfrm>
            <a:off x="640080" y="1051560"/>
            <a:ext cx="7315200" cy="365760"/>
          </a:xfrm>
          <a:prstGeom prst="rect">
            <a:avLst/>
          </a:prstGeom>
          <a:noFill/>
          <a:ln/>
        </p:spPr>
        <p:txBody>
          <a:bodyPr wrap="square" rtlCol="0" anchor="ctr"/>
          <a:lstStyle/>
          <a:p>
            <a:pPr indent="0" marL="0">
              <a:buNone/>
            </a:pPr>
            <a:r>
              <a:rPr lang="en-US" sz="1300" b="1" spc="300" kern="0" dirty="0">
                <a:solidFill>
                  <a:srgbClr val="5DE0E6"/>
                </a:solidFill>
                <a:latin typeface="Calibri" pitchFamily="34" charset="0"/>
                <a:ea typeface="Calibri" pitchFamily="34" charset="-122"/>
                <a:cs typeface="Calibri" pitchFamily="34" charset="-120"/>
              </a:rPr>
              <a:t>HEALTHCARE  •  CLOUD COMPUTING</a:t>
            </a:r>
            <a:endParaRPr lang="en-US" sz="1300" dirty="0"/>
          </a:p>
        </p:txBody>
      </p:sp>
      <p:sp>
        <p:nvSpPr>
          <p:cNvPr id="21" name="Text 15"/>
          <p:cNvSpPr/>
          <p:nvPr/>
        </p:nvSpPr>
        <p:spPr>
          <a:xfrm>
            <a:off x="640080" y="1417320"/>
            <a:ext cx="7589520" cy="173736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CLOUD-BASED HEALTHCARE</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APPOINTMENT BOOKING SYSTEM</a:t>
            </a:r>
            <a:endParaRPr lang="en-US" sz="3800" dirty="0"/>
          </a:p>
        </p:txBody>
      </p:sp>
      <p:sp>
        <p:nvSpPr>
          <p:cNvPr id="22" name="Text 16"/>
          <p:cNvSpPr/>
          <p:nvPr/>
        </p:nvSpPr>
        <p:spPr>
          <a:xfrm>
            <a:off x="640080" y="3246120"/>
            <a:ext cx="6949440" cy="502920"/>
          </a:xfrm>
          <a:prstGeom prst="rect">
            <a:avLst/>
          </a:prstGeom>
          <a:noFill/>
          <a:ln/>
        </p:spPr>
        <p:txBody>
          <a:bodyPr wrap="square" lIns="0" tIns="0" rIns="0" bIns="0" rtlCol="0" anchor="ctr"/>
          <a:lstStyle/>
          <a:p>
            <a:pPr indent="0" marL="0">
              <a:buNone/>
            </a:pPr>
            <a:r>
              <a:rPr lang="en-US" sz="1700" i="1" dirty="0">
                <a:solidFill>
                  <a:srgbClr val="CFE8FF"/>
                </a:solidFill>
                <a:latin typeface="Calibri" pitchFamily="34" charset="0"/>
                <a:ea typeface="Calibri" pitchFamily="34" charset="-122"/>
                <a:cs typeface="Calibri" pitchFamily="34" charset="-120"/>
              </a:rPr>
              <a:t>A Cloud-Based Solution for Online Doctor Appointment Booking</a:t>
            </a:r>
            <a:endParaRPr lang="en-US" sz="1700" dirty="0"/>
          </a:p>
        </p:txBody>
      </p:sp>
      <p:sp>
        <p:nvSpPr>
          <p:cNvPr id="23" name="Shape 17"/>
          <p:cNvSpPr/>
          <p:nvPr/>
        </p:nvSpPr>
        <p:spPr>
          <a:xfrm>
            <a:off x="640080" y="3977640"/>
            <a:ext cx="502920" cy="32004"/>
          </a:xfrm>
          <a:prstGeom prst="rect">
            <a:avLst/>
          </a:prstGeom>
          <a:solidFill>
            <a:srgbClr val="5DE0E6"/>
          </a:solidFill>
          <a:ln/>
        </p:spPr>
      </p:sp>
      <p:sp>
        <p:nvSpPr>
          <p:cNvPr id="24" name="Text 18"/>
          <p:cNvSpPr/>
          <p:nvPr/>
        </p:nvSpPr>
        <p:spPr>
          <a:xfrm>
            <a:off x="640080" y="4160520"/>
            <a:ext cx="3657600" cy="320040"/>
          </a:xfrm>
          <a:prstGeom prst="rect">
            <a:avLst/>
          </a:prstGeom>
          <a:noFill/>
          <a:ln/>
        </p:spPr>
        <p:txBody>
          <a:bodyPr wrap="square" rtlCol="0" anchor="ctr"/>
          <a:lstStyle/>
          <a:p>
            <a:pPr indent="0" marL="0">
              <a:buNone/>
            </a:pPr>
            <a:r>
              <a:rPr lang="en-US" sz="1250" b="1" spc="200" kern="0" dirty="0">
                <a:solidFill>
                  <a:srgbClr val="5DE0E6"/>
                </a:solidFill>
                <a:latin typeface="Calibri" pitchFamily="34" charset="0"/>
                <a:ea typeface="Calibri" pitchFamily="34" charset="-122"/>
                <a:cs typeface="Calibri" pitchFamily="34" charset="-120"/>
              </a:rPr>
              <a:t>PRESENTED BY</a:t>
            </a:r>
            <a:endParaRPr lang="en-US" sz="1250" dirty="0"/>
          </a:p>
        </p:txBody>
      </p:sp>
      <p:sp>
        <p:nvSpPr>
          <p:cNvPr id="25" name="Text 19"/>
          <p:cNvSpPr/>
          <p:nvPr/>
        </p:nvSpPr>
        <p:spPr>
          <a:xfrm>
            <a:off x="640080" y="4526280"/>
            <a:ext cx="5943600" cy="34747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Gavini Divya Madhuri</a:t>
            </a:r>
            <a:endParaRPr lang="en-US" sz="1500" dirty="0"/>
          </a:p>
        </p:txBody>
      </p:sp>
      <p:sp>
        <p:nvSpPr>
          <p:cNvPr id="26" name="Text 20"/>
          <p:cNvSpPr/>
          <p:nvPr/>
        </p:nvSpPr>
        <p:spPr>
          <a:xfrm>
            <a:off x="640080" y="4910328"/>
            <a:ext cx="5943600" cy="34747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Gumma Ankitha</a:t>
            </a:r>
            <a:endParaRPr lang="en-US" sz="1500" dirty="0"/>
          </a:p>
        </p:txBody>
      </p:sp>
      <p:sp>
        <p:nvSpPr>
          <p:cNvPr id="27" name="Text 21"/>
          <p:cNvSpPr/>
          <p:nvPr/>
        </p:nvSpPr>
        <p:spPr>
          <a:xfrm>
            <a:off x="640080" y="5294376"/>
            <a:ext cx="5943600" cy="34747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Saketi Bhanu Vighnesh</a:t>
            </a:r>
            <a:endParaRPr lang="en-US" sz="1500" dirty="0"/>
          </a:p>
        </p:txBody>
      </p:sp>
      <p:sp>
        <p:nvSpPr>
          <p:cNvPr id="28" name="Text 22"/>
          <p:cNvSpPr/>
          <p:nvPr/>
        </p:nvSpPr>
        <p:spPr>
          <a:xfrm>
            <a:off x="640080" y="5678424"/>
            <a:ext cx="5943600" cy="34747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Nelakurti Maneesha</a:t>
            </a:r>
            <a:endParaRPr lang="en-US" sz="1500" dirty="0"/>
          </a:p>
        </p:txBody>
      </p:sp>
      <p:sp>
        <p:nvSpPr>
          <p:cNvPr id="29" name="Text 23"/>
          <p:cNvSpPr/>
          <p:nvPr/>
        </p:nvSpPr>
        <p:spPr>
          <a:xfrm>
            <a:off x="640080" y="6062472"/>
            <a:ext cx="5943600" cy="34747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Velpuri Yasaswini</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2647"/>
        </a:solidFill>
      </p:bgPr>
    </p:bg>
    <p:spTree>
      <p:nvGrpSpPr>
        <p:cNvPr id="1" name=""/>
        <p:cNvGrpSpPr/>
        <p:nvPr/>
      </p:nvGrpSpPr>
      <p:grpSpPr>
        <a:xfrm>
          <a:off x="0" y="0"/>
          <a:ext cx="0" cy="0"/>
          <a:chOff x="0" y="0"/>
          <a:chExt cx="0" cy="0"/>
        </a:xfrm>
      </p:grpSpPr>
      <p:sp>
        <p:nvSpPr>
          <p:cNvPr id="2" name="Shape 0"/>
          <p:cNvSpPr/>
          <p:nvPr/>
        </p:nvSpPr>
        <p:spPr>
          <a:xfrm>
            <a:off x="9418320" y="-2743200"/>
            <a:ext cx="6400800" cy="6400800"/>
          </a:xfrm>
          <a:prstGeom prst="ellipse">
            <a:avLst/>
          </a:prstGeom>
          <a:solidFill>
            <a:srgbClr val="144272">
              <a:alpha val="65000"/>
            </a:srgbClr>
          </a:solidFill>
          <a:ln/>
        </p:spPr>
      </p:sp>
      <p:sp>
        <p:nvSpPr>
          <p:cNvPr id="3" name="Shape 1"/>
          <p:cNvSpPr/>
          <p:nvPr/>
        </p:nvSpPr>
        <p:spPr>
          <a:xfrm>
            <a:off x="10332720" y="3657600"/>
            <a:ext cx="3840480" cy="3840480"/>
          </a:xfrm>
          <a:prstGeom prst="ellipse">
            <a:avLst/>
          </a:prstGeom>
          <a:solidFill>
            <a:srgbClr val="205295">
              <a:alpha val="55000"/>
            </a:srgbClr>
          </a:solidFill>
          <a:ln/>
        </p:spPr>
      </p:sp>
      <p:sp>
        <p:nvSpPr>
          <p:cNvPr id="4" name="Text 2"/>
          <p:cNvSpPr/>
          <p:nvPr/>
        </p:nvSpPr>
        <p:spPr>
          <a:xfrm>
            <a:off x="640080" y="685800"/>
            <a:ext cx="54864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AGENDA</a:t>
            </a:r>
            <a:endParaRPr lang="en-US" sz="3400" dirty="0"/>
          </a:p>
        </p:txBody>
      </p:sp>
      <p:sp>
        <p:nvSpPr>
          <p:cNvPr id="5" name="Text 3"/>
          <p:cNvSpPr/>
          <p:nvPr/>
        </p:nvSpPr>
        <p:spPr>
          <a:xfrm>
            <a:off x="640080" y="1691640"/>
            <a:ext cx="640080" cy="603504"/>
          </a:xfrm>
          <a:prstGeom prst="rect">
            <a:avLst/>
          </a:prstGeom>
          <a:noFill/>
          <a:ln/>
        </p:spPr>
        <p:txBody>
          <a:bodyPr wrap="square" lIns="0" tIns="0" rIns="0" bIns="0" rtlCol="0" anchor="ctr"/>
          <a:lstStyle/>
          <a:p>
            <a:pPr indent="0" marL="0">
              <a:buNone/>
            </a:pPr>
            <a:r>
              <a:rPr lang="en-US" sz="1800" b="1" dirty="0">
                <a:solidFill>
                  <a:srgbClr val="5DE0E6"/>
                </a:solidFill>
                <a:latin typeface="Cambria" pitchFamily="34" charset="0"/>
                <a:ea typeface="Cambria" pitchFamily="34" charset="-122"/>
                <a:cs typeface="Cambria" pitchFamily="34" charset="-120"/>
              </a:rPr>
              <a:t>01</a:t>
            </a:r>
            <a:endParaRPr lang="en-US" sz="1800" dirty="0"/>
          </a:p>
        </p:txBody>
      </p:sp>
      <p:sp>
        <p:nvSpPr>
          <p:cNvPr id="6" name="Text 4"/>
          <p:cNvSpPr/>
          <p:nvPr/>
        </p:nvSpPr>
        <p:spPr>
          <a:xfrm>
            <a:off x="1371600" y="1691640"/>
            <a:ext cx="5486400" cy="603504"/>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Problem Statement</a:t>
            </a:r>
            <a:endParaRPr lang="en-US" sz="1800" dirty="0"/>
          </a:p>
        </p:txBody>
      </p:sp>
      <p:sp>
        <p:nvSpPr>
          <p:cNvPr id="7" name="Text 5"/>
          <p:cNvSpPr/>
          <p:nvPr/>
        </p:nvSpPr>
        <p:spPr>
          <a:xfrm>
            <a:off x="640080" y="2295144"/>
            <a:ext cx="640080" cy="603504"/>
          </a:xfrm>
          <a:prstGeom prst="rect">
            <a:avLst/>
          </a:prstGeom>
          <a:noFill/>
          <a:ln/>
        </p:spPr>
        <p:txBody>
          <a:bodyPr wrap="square" lIns="0" tIns="0" rIns="0" bIns="0" rtlCol="0" anchor="ctr"/>
          <a:lstStyle/>
          <a:p>
            <a:pPr indent="0" marL="0">
              <a:buNone/>
            </a:pPr>
            <a:r>
              <a:rPr lang="en-US" sz="1800" b="1" dirty="0">
                <a:solidFill>
                  <a:srgbClr val="5DE0E6"/>
                </a:solidFill>
                <a:latin typeface="Cambria" pitchFamily="34" charset="0"/>
                <a:ea typeface="Cambria" pitchFamily="34" charset="-122"/>
                <a:cs typeface="Cambria" pitchFamily="34" charset="-120"/>
              </a:rPr>
              <a:t>02</a:t>
            </a:r>
            <a:endParaRPr lang="en-US" sz="1800" dirty="0"/>
          </a:p>
        </p:txBody>
      </p:sp>
      <p:sp>
        <p:nvSpPr>
          <p:cNvPr id="8" name="Text 6"/>
          <p:cNvSpPr/>
          <p:nvPr/>
        </p:nvSpPr>
        <p:spPr>
          <a:xfrm>
            <a:off x="1371600" y="2295144"/>
            <a:ext cx="5486400" cy="603504"/>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Solution Overview</a:t>
            </a:r>
            <a:endParaRPr lang="en-US" sz="1800" dirty="0"/>
          </a:p>
        </p:txBody>
      </p:sp>
      <p:sp>
        <p:nvSpPr>
          <p:cNvPr id="9" name="Text 7"/>
          <p:cNvSpPr/>
          <p:nvPr/>
        </p:nvSpPr>
        <p:spPr>
          <a:xfrm>
            <a:off x="640080" y="2898648"/>
            <a:ext cx="640080" cy="603504"/>
          </a:xfrm>
          <a:prstGeom prst="rect">
            <a:avLst/>
          </a:prstGeom>
          <a:noFill/>
          <a:ln/>
        </p:spPr>
        <p:txBody>
          <a:bodyPr wrap="square" lIns="0" tIns="0" rIns="0" bIns="0" rtlCol="0" anchor="ctr"/>
          <a:lstStyle/>
          <a:p>
            <a:pPr indent="0" marL="0">
              <a:buNone/>
            </a:pPr>
            <a:r>
              <a:rPr lang="en-US" sz="1800" b="1" dirty="0">
                <a:solidFill>
                  <a:srgbClr val="5DE0E6"/>
                </a:solidFill>
                <a:latin typeface="Cambria" pitchFamily="34" charset="0"/>
                <a:ea typeface="Cambria" pitchFamily="34" charset="-122"/>
                <a:cs typeface="Cambria" pitchFamily="34" charset="-120"/>
              </a:rPr>
              <a:t>03</a:t>
            </a:r>
            <a:endParaRPr lang="en-US" sz="1800" dirty="0"/>
          </a:p>
        </p:txBody>
      </p:sp>
      <p:sp>
        <p:nvSpPr>
          <p:cNvPr id="10" name="Text 8"/>
          <p:cNvSpPr/>
          <p:nvPr/>
        </p:nvSpPr>
        <p:spPr>
          <a:xfrm>
            <a:off x="1371600" y="2898648"/>
            <a:ext cx="5486400" cy="603504"/>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Key Features</a:t>
            </a:r>
            <a:endParaRPr lang="en-US" sz="1800" dirty="0"/>
          </a:p>
        </p:txBody>
      </p:sp>
      <p:sp>
        <p:nvSpPr>
          <p:cNvPr id="11" name="Text 9"/>
          <p:cNvSpPr/>
          <p:nvPr/>
        </p:nvSpPr>
        <p:spPr>
          <a:xfrm>
            <a:off x="640080" y="3502152"/>
            <a:ext cx="640080" cy="603504"/>
          </a:xfrm>
          <a:prstGeom prst="rect">
            <a:avLst/>
          </a:prstGeom>
          <a:noFill/>
          <a:ln/>
        </p:spPr>
        <p:txBody>
          <a:bodyPr wrap="square" lIns="0" tIns="0" rIns="0" bIns="0" rtlCol="0" anchor="ctr"/>
          <a:lstStyle/>
          <a:p>
            <a:pPr indent="0" marL="0">
              <a:buNone/>
            </a:pPr>
            <a:r>
              <a:rPr lang="en-US" sz="1800" b="1" dirty="0">
                <a:solidFill>
                  <a:srgbClr val="5DE0E6"/>
                </a:solidFill>
                <a:latin typeface="Cambria" pitchFamily="34" charset="0"/>
                <a:ea typeface="Cambria" pitchFamily="34" charset="-122"/>
                <a:cs typeface="Cambria" pitchFamily="34" charset="-120"/>
              </a:rPr>
              <a:t>04</a:t>
            </a:r>
            <a:endParaRPr lang="en-US" sz="1800" dirty="0"/>
          </a:p>
        </p:txBody>
      </p:sp>
      <p:sp>
        <p:nvSpPr>
          <p:cNvPr id="12" name="Text 10"/>
          <p:cNvSpPr/>
          <p:nvPr/>
        </p:nvSpPr>
        <p:spPr>
          <a:xfrm>
            <a:off x="1371600" y="3502152"/>
            <a:ext cx="5486400" cy="603504"/>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AWS Services Used</a:t>
            </a:r>
            <a:endParaRPr lang="en-US" sz="1800" dirty="0"/>
          </a:p>
        </p:txBody>
      </p:sp>
      <p:sp>
        <p:nvSpPr>
          <p:cNvPr id="13" name="Text 11"/>
          <p:cNvSpPr/>
          <p:nvPr/>
        </p:nvSpPr>
        <p:spPr>
          <a:xfrm>
            <a:off x="640080" y="4105656"/>
            <a:ext cx="640080" cy="603504"/>
          </a:xfrm>
          <a:prstGeom prst="rect">
            <a:avLst/>
          </a:prstGeom>
          <a:noFill/>
          <a:ln/>
        </p:spPr>
        <p:txBody>
          <a:bodyPr wrap="square" lIns="0" tIns="0" rIns="0" bIns="0" rtlCol="0" anchor="ctr"/>
          <a:lstStyle/>
          <a:p>
            <a:pPr indent="0" marL="0">
              <a:buNone/>
            </a:pPr>
            <a:r>
              <a:rPr lang="en-US" sz="1800" b="1" dirty="0">
                <a:solidFill>
                  <a:srgbClr val="5DE0E6"/>
                </a:solidFill>
                <a:latin typeface="Cambria" pitchFamily="34" charset="0"/>
                <a:ea typeface="Cambria" pitchFamily="34" charset="-122"/>
                <a:cs typeface="Cambria" pitchFamily="34" charset="-120"/>
              </a:rPr>
              <a:t>05</a:t>
            </a:r>
            <a:endParaRPr lang="en-US" sz="1800" dirty="0"/>
          </a:p>
        </p:txBody>
      </p:sp>
      <p:sp>
        <p:nvSpPr>
          <p:cNvPr id="14" name="Text 12"/>
          <p:cNvSpPr/>
          <p:nvPr/>
        </p:nvSpPr>
        <p:spPr>
          <a:xfrm>
            <a:off x="1371600" y="4105656"/>
            <a:ext cx="5486400" cy="603504"/>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Architecture</a:t>
            </a:r>
            <a:endParaRPr lang="en-US" sz="1800" dirty="0"/>
          </a:p>
        </p:txBody>
      </p:sp>
      <p:sp>
        <p:nvSpPr>
          <p:cNvPr id="15" name="Text 13"/>
          <p:cNvSpPr/>
          <p:nvPr/>
        </p:nvSpPr>
        <p:spPr>
          <a:xfrm>
            <a:off x="640080" y="4709160"/>
            <a:ext cx="640080" cy="603504"/>
          </a:xfrm>
          <a:prstGeom prst="rect">
            <a:avLst/>
          </a:prstGeom>
          <a:noFill/>
          <a:ln/>
        </p:spPr>
        <p:txBody>
          <a:bodyPr wrap="square" lIns="0" tIns="0" rIns="0" bIns="0" rtlCol="0" anchor="ctr"/>
          <a:lstStyle/>
          <a:p>
            <a:pPr indent="0" marL="0">
              <a:buNone/>
            </a:pPr>
            <a:r>
              <a:rPr lang="en-US" sz="1800" b="1" dirty="0">
                <a:solidFill>
                  <a:srgbClr val="5DE0E6"/>
                </a:solidFill>
                <a:latin typeface="Cambria" pitchFamily="34" charset="0"/>
                <a:ea typeface="Cambria" pitchFamily="34" charset="-122"/>
                <a:cs typeface="Cambria" pitchFamily="34" charset="-120"/>
              </a:rPr>
              <a:t>06</a:t>
            </a:r>
            <a:endParaRPr lang="en-US" sz="1800" dirty="0"/>
          </a:p>
        </p:txBody>
      </p:sp>
      <p:sp>
        <p:nvSpPr>
          <p:cNvPr id="16" name="Text 14"/>
          <p:cNvSpPr/>
          <p:nvPr/>
        </p:nvSpPr>
        <p:spPr>
          <a:xfrm>
            <a:off x="1371600" y="4709160"/>
            <a:ext cx="5486400" cy="603504"/>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Future Work</a:t>
            </a:r>
            <a:endParaRPr lang="en-US" sz="1800" dirty="0"/>
          </a:p>
        </p:txBody>
      </p:sp>
      <p:sp>
        <p:nvSpPr>
          <p:cNvPr id="17" name="Text 15"/>
          <p:cNvSpPr/>
          <p:nvPr/>
        </p:nvSpPr>
        <p:spPr>
          <a:xfrm>
            <a:off x="640080" y="5312664"/>
            <a:ext cx="640080" cy="603504"/>
          </a:xfrm>
          <a:prstGeom prst="rect">
            <a:avLst/>
          </a:prstGeom>
          <a:noFill/>
          <a:ln/>
        </p:spPr>
        <p:txBody>
          <a:bodyPr wrap="square" lIns="0" tIns="0" rIns="0" bIns="0" rtlCol="0" anchor="ctr"/>
          <a:lstStyle/>
          <a:p>
            <a:pPr indent="0" marL="0">
              <a:buNone/>
            </a:pPr>
            <a:r>
              <a:rPr lang="en-US" sz="1800" b="1" dirty="0">
                <a:solidFill>
                  <a:srgbClr val="5DE0E6"/>
                </a:solidFill>
                <a:latin typeface="Cambria" pitchFamily="34" charset="0"/>
                <a:ea typeface="Cambria" pitchFamily="34" charset="-122"/>
                <a:cs typeface="Cambria" pitchFamily="34" charset="-120"/>
              </a:rPr>
              <a:t>07</a:t>
            </a:r>
            <a:endParaRPr lang="en-US" sz="1800" dirty="0"/>
          </a:p>
        </p:txBody>
      </p:sp>
      <p:sp>
        <p:nvSpPr>
          <p:cNvPr id="18" name="Text 16"/>
          <p:cNvSpPr/>
          <p:nvPr/>
        </p:nvSpPr>
        <p:spPr>
          <a:xfrm>
            <a:off x="1371600" y="5312664"/>
            <a:ext cx="5486400" cy="603504"/>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Conclusion</a:t>
            </a:r>
            <a:endParaRPr lang="en-US" sz="1800" dirty="0"/>
          </a:p>
        </p:txBody>
      </p:sp>
      <p:sp>
        <p:nvSpPr>
          <p:cNvPr id="19" name="Shape 17"/>
          <p:cNvSpPr/>
          <p:nvPr/>
        </p:nvSpPr>
        <p:spPr>
          <a:xfrm>
            <a:off x="9052560" y="1920240"/>
            <a:ext cx="1280160" cy="1280160"/>
          </a:xfrm>
          <a:prstGeom prst="ellipse">
            <a:avLst/>
          </a:prstGeom>
          <a:solidFill>
            <a:srgbClr val="205295"/>
          </a:solidFill>
          <a:ln/>
          <a:effectLst>
            <a:outerShdw sx="100000" sy="100000" kx="0" ky="0" algn="bl" rotWithShape="0" blurRad="101600" dist="38100" dir="5400000">
              <a:srgbClr val="000000">
                <a:alpha val="30000"/>
              </a:srgbClr>
            </a:outerShdw>
          </a:effectLst>
        </p:spPr>
      </p:sp>
      <p:pic>
        <p:nvPicPr>
          <p:cNvPr id="20" name="Image 0" descr="/home/claude/icons/doctor.png">    </p:cNvPr>
          <p:cNvPicPr>
            <a:picLocks noChangeAspect="1"/>
          </p:cNvPicPr>
          <p:nvPr/>
        </p:nvPicPr>
        <p:blipFill>
          <a:blip r:embed="rId1"/>
          <a:stretch>
            <a:fillRect/>
          </a:stretch>
        </p:blipFill>
        <p:spPr>
          <a:xfrm>
            <a:off x="9334195" y="2201875"/>
            <a:ext cx="716890" cy="716890"/>
          </a:xfrm>
          <a:prstGeom prst="rect">
            <a:avLst/>
          </a:prstGeom>
        </p:spPr>
      </p:pic>
      <p:sp>
        <p:nvSpPr>
          <p:cNvPr id="21" name="Shape 18"/>
          <p:cNvSpPr/>
          <p:nvPr/>
        </p:nvSpPr>
        <p:spPr>
          <a:xfrm>
            <a:off x="10515600" y="3200400"/>
            <a:ext cx="1051560" cy="1051560"/>
          </a:xfrm>
          <a:prstGeom prst="ellipse">
            <a:avLst/>
          </a:prstGeom>
          <a:solidFill>
            <a:srgbClr val="2C74B3"/>
          </a:solidFill>
          <a:ln/>
          <a:effectLst>
            <a:outerShdw sx="100000" sy="100000" kx="0" ky="0" algn="bl" rotWithShape="0" blurRad="101600" dist="38100" dir="5400000">
              <a:srgbClr val="000000">
                <a:alpha val="30000"/>
              </a:srgbClr>
            </a:outerShdw>
          </a:effectLst>
        </p:spPr>
      </p:sp>
      <p:pic>
        <p:nvPicPr>
          <p:cNvPr id="22" name="Image 1" descr="/home/claude/icons/calendar.png">    </p:cNvPr>
          <p:cNvPicPr>
            <a:picLocks noChangeAspect="1"/>
          </p:cNvPicPr>
          <p:nvPr/>
        </p:nvPicPr>
        <p:blipFill>
          <a:blip r:embed="rId2"/>
          <a:stretch>
            <a:fillRect/>
          </a:stretch>
        </p:blipFill>
        <p:spPr>
          <a:xfrm>
            <a:off x="10746943" y="3431743"/>
            <a:ext cx="588874" cy="588874"/>
          </a:xfrm>
          <a:prstGeom prst="rect">
            <a:avLst/>
          </a:prstGeom>
        </p:spPr>
      </p:pic>
      <p:sp>
        <p:nvSpPr>
          <p:cNvPr id="23" name="Shape 19"/>
          <p:cNvSpPr/>
          <p:nvPr/>
        </p:nvSpPr>
        <p:spPr>
          <a:xfrm>
            <a:off x="8686800" y="4480560"/>
            <a:ext cx="914400" cy="914400"/>
          </a:xfrm>
          <a:prstGeom prst="ellipse">
            <a:avLst/>
          </a:prstGeom>
          <a:solidFill>
            <a:srgbClr val="0F3460"/>
          </a:solidFill>
          <a:ln/>
          <a:effectLst>
            <a:outerShdw sx="100000" sy="100000" kx="0" ky="0" algn="bl" rotWithShape="0" blurRad="101600" dist="38100" dir="5400000">
              <a:srgbClr val="000000">
                <a:alpha val="30000"/>
              </a:srgbClr>
            </a:outerShdw>
          </a:effectLst>
        </p:spPr>
      </p:sp>
      <p:pic>
        <p:nvPicPr>
          <p:cNvPr id="24" name="Image 2" descr="/home/claude/icons/cloud.png">    </p:cNvPr>
          <p:cNvPicPr>
            <a:picLocks noChangeAspect="1"/>
          </p:cNvPicPr>
          <p:nvPr/>
        </p:nvPicPr>
        <p:blipFill>
          <a:blip r:embed="rId3"/>
          <a:stretch>
            <a:fillRect/>
          </a:stretch>
        </p:blipFill>
        <p:spPr>
          <a:xfrm>
            <a:off x="8887968" y="4681728"/>
            <a:ext cx="512064" cy="512064"/>
          </a:xfrm>
          <a:prstGeom prst="rect">
            <a:avLst/>
          </a:prstGeom>
        </p:spPr>
      </p:pic>
      <p:sp>
        <p:nvSpPr>
          <p:cNvPr id="26" name="Text 20"/>
          <p:cNvSpPr/>
          <p:nvPr/>
        </p:nvSpPr>
        <p:spPr>
          <a:xfrm>
            <a:off x="11612880" y="6446520"/>
            <a:ext cx="457200" cy="274320"/>
          </a:xfrm>
          <a:prstGeom prst="rect">
            <a:avLst/>
          </a:prstGeom>
          <a:noFill/>
          <a:ln/>
        </p:spPr>
        <p:txBody>
          <a:bodyPr wrap="square" rtlCol="0" anchor="ctr"/>
          <a:lstStyle/>
          <a:p>
            <a:pPr algn="r" indent="0" marL="0">
              <a:buNone/>
            </a:pPr>
            <a:r>
              <a:rPr lang="en-US" sz="1100" dirty="0">
                <a:solidFill>
                  <a:srgbClr val="9FB7D8"/>
                </a:solidFill>
                <a:latin typeface="Calibri" pitchFamily="34" charset="0"/>
                <a:ea typeface="Calibri" pitchFamily="34" charset="-122"/>
                <a:cs typeface="Calibri" pitchFamily="34" charset="-120"/>
              </a:rPr>
              <a:t>2</a:t>
            </a:r>
            <a:endParaRPr lang="en-US" sz="1100" dirty="0"/>
          </a:p>
        </p:txBody>
      </p:sp>
      <p:sp>
        <p:nvSpPr>
          <p:cNvPr id="27" name="Text 21"/>
          <p:cNvSpPr/>
          <p:nvPr/>
        </p:nvSpPr>
        <p:spPr>
          <a:xfrm>
            <a:off x="640080" y="6446520"/>
            <a:ext cx="6400800" cy="274320"/>
          </a:xfrm>
          <a:prstGeom prst="rect">
            <a:avLst/>
          </a:prstGeom>
          <a:noFill/>
          <a:ln/>
        </p:spPr>
        <p:txBody>
          <a:bodyPr wrap="square" rtlCol="0" anchor="ctr"/>
          <a:lstStyle/>
          <a:p>
            <a:pPr indent="0" marL="0">
              <a:buNone/>
            </a:pPr>
            <a:r>
              <a:rPr lang="en-US" sz="900" spc="150" kern="0" dirty="0">
                <a:solidFill>
                  <a:srgbClr val="6C8FB5"/>
                </a:solidFill>
                <a:latin typeface="Calibri" pitchFamily="34" charset="0"/>
                <a:ea typeface="Calibri" pitchFamily="34" charset="-122"/>
                <a:cs typeface="Calibri" pitchFamily="34" charset="-120"/>
              </a:rPr>
              <a:t>HEALTHCARE APPOINTMENT BOOKING SYSTEM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C"/>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250" b="1" spc="250" kern="0" dirty="0">
                <a:solidFill>
                  <a:srgbClr val="2C74B3"/>
                </a:solidFill>
                <a:latin typeface="Calibri" pitchFamily="34" charset="0"/>
                <a:ea typeface="Calibri" pitchFamily="34" charset="-122"/>
                <a:cs typeface="Calibri" pitchFamily="34" charset="-120"/>
              </a:rPr>
              <a:t>THE CHALLENGE</a:t>
            </a:r>
            <a:endParaRPr lang="en-US" sz="1250" dirty="0"/>
          </a:p>
        </p:txBody>
      </p:sp>
      <p:sp>
        <p:nvSpPr>
          <p:cNvPr id="3" name="Text 1"/>
          <p:cNvSpPr/>
          <p:nvPr/>
        </p:nvSpPr>
        <p:spPr>
          <a:xfrm>
            <a:off x="640080" y="749808"/>
            <a:ext cx="10515600" cy="731520"/>
          </a:xfrm>
          <a:prstGeom prst="rect">
            <a:avLst/>
          </a:prstGeom>
          <a:noFill/>
          <a:ln/>
        </p:spPr>
        <p:txBody>
          <a:bodyPr wrap="square" lIns="0" tIns="0" rIns="0" bIns="0" rtlCol="0" anchor="ctr"/>
          <a:lstStyle/>
          <a:p>
            <a:pPr indent="0" marL="0">
              <a:buNone/>
            </a:pPr>
            <a:r>
              <a:rPr lang="en-US" sz="3200" b="1" dirty="0">
                <a:solidFill>
                  <a:srgbClr val="0A2647"/>
                </a:solidFill>
                <a:latin typeface="Cambria" pitchFamily="34" charset="0"/>
                <a:ea typeface="Cambria" pitchFamily="34" charset="-122"/>
                <a:cs typeface="Cambria" pitchFamily="34" charset="-120"/>
              </a:rPr>
              <a:t>Problem Statement</a:t>
            </a:r>
            <a:endParaRPr lang="en-US" sz="3200" dirty="0"/>
          </a:p>
        </p:txBody>
      </p:sp>
      <p:sp>
        <p:nvSpPr>
          <p:cNvPr id="4" name="Shape 2"/>
          <p:cNvSpPr/>
          <p:nvPr/>
        </p:nvSpPr>
        <p:spPr>
          <a:xfrm>
            <a:off x="11475720" y="457200"/>
            <a:ext cx="128016" cy="128016"/>
          </a:xfrm>
          <a:prstGeom prst="ellipse">
            <a:avLst/>
          </a:prstGeom>
          <a:solidFill>
            <a:srgbClr val="5DE0E6"/>
          </a:solidFill>
          <a:ln/>
        </p:spPr>
      </p:sp>
      <p:sp>
        <p:nvSpPr>
          <p:cNvPr id="5" name="Shape 3"/>
          <p:cNvSpPr/>
          <p:nvPr/>
        </p:nvSpPr>
        <p:spPr>
          <a:xfrm>
            <a:off x="640080" y="1828800"/>
            <a:ext cx="5120640" cy="1737360"/>
          </a:xfrm>
          <a:prstGeom prst="roundRect">
            <a:avLst>
              <a:gd name="adj" fmla="val 6316"/>
            </a:avLst>
          </a:prstGeom>
          <a:solidFill>
            <a:srgbClr val="FFFFFF"/>
          </a:solidFill>
          <a:ln/>
          <a:effectLst>
            <a:outerShdw sx="100000" sy="100000" kx="0" ky="0" algn="bl" rotWithShape="0" blurRad="127000" dist="38100" dir="5400000">
              <a:srgbClr val="0A2647">
                <a:alpha val="12000"/>
              </a:srgbClr>
            </a:outerShdw>
          </a:effectLst>
        </p:spPr>
      </p:sp>
      <p:sp>
        <p:nvSpPr>
          <p:cNvPr id="6" name="Shape 4"/>
          <p:cNvSpPr/>
          <p:nvPr/>
        </p:nvSpPr>
        <p:spPr>
          <a:xfrm>
            <a:off x="914400" y="2103120"/>
            <a:ext cx="502920" cy="502920"/>
          </a:xfrm>
          <a:prstGeom prst="ellipse">
            <a:avLst/>
          </a:prstGeom>
          <a:solidFill>
            <a:srgbClr val="E4EFFB"/>
          </a:solidFill>
          <a:ln/>
        </p:spPr>
      </p:sp>
      <p:sp>
        <p:nvSpPr>
          <p:cNvPr id="7" name="Text 5"/>
          <p:cNvSpPr/>
          <p:nvPr/>
        </p:nvSpPr>
        <p:spPr>
          <a:xfrm>
            <a:off x="914400" y="2103120"/>
            <a:ext cx="502920" cy="502920"/>
          </a:xfrm>
          <a:prstGeom prst="rect">
            <a:avLst/>
          </a:prstGeom>
          <a:noFill/>
          <a:ln/>
        </p:spPr>
        <p:txBody>
          <a:bodyPr wrap="square" lIns="0" tIns="0" rIns="0" bIns="0" rtlCol="0" anchor="ctr"/>
          <a:lstStyle/>
          <a:p>
            <a:pPr algn="ctr" indent="0" marL="0">
              <a:buNone/>
            </a:pPr>
            <a:r>
              <a:rPr lang="en-US" sz="1800" b="1" dirty="0">
                <a:solidFill>
                  <a:srgbClr val="205295"/>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600200" y="2057400"/>
            <a:ext cx="3886200" cy="365760"/>
          </a:xfrm>
          <a:prstGeom prst="rect">
            <a:avLst/>
          </a:prstGeom>
          <a:noFill/>
          <a:ln/>
        </p:spPr>
        <p:txBody>
          <a:bodyPr wrap="square" lIns="0" tIns="0" rIns="0" bIns="0" rtlCol="0" anchor="ctr"/>
          <a:lstStyle/>
          <a:p>
            <a:pPr indent="0" marL="0">
              <a:buNone/>
            </a:pPr>
            <a:r>
              <a:rPr lang="en-US" sz="1500" b="1" dirty="0">
                <a:solidFill>
                  <a:srgbClr val="0A2647"/>
                </a:solidFill>
                <a:latin typeface="Calibri" pitchFamily="34" charset="0"/>
                <a:ea typeface="Calibri" pitchFamily="34" charset="-122"/>
                <a:cs typeface="Calibri" pitchFamily="34" charset="-120"/>
              </a:rPr>
              <a:t>Manual Booking Is Slow</a:t>
            </a:r>
            <a:endParaRPr lang="en-US" sz="1500" dirty="0"/>
          </a:p>
        </p:txBody>
      </p:sp>
      <p:sp>
        <p:nvSpPr>
          <p:cNvPr id="9" name="Text 7"/>
          <p:cNvSpPr/>
          <p:nvPr/>
        </p:nvSpPr>
        <p:spPr>
          <a:xfrm>
            <a:off x="1600200" y="2450592"/>
            <a:ext cx="3886200" cy="1005840"/>
          </a:xfrm>
          <a:prstGeom prst="rect">
            <a:avLst/>
          </a:prstGeom>
          <a:noFill/>
          <a:ln/>
        </p:spPr>
        <p:txBody>
          <a:bodyPr wrap="square" lIns="0" tIns="0" rIns="0" bIns="0" rtlCol="0" anchor="ctr"/>
          <a:lstStyle/>
          <a:p>
            <a:pPr indent="0" marL="0">
              <a:lnSpc>
                <a:spcPts val="1600"/>
              </a:lnSpc>
              <a:buNone/>
            </a:pPr>
            <a:r>
              <a:rPr lang="en-US" sz="1200" dirty="0">
                <a:solidFill>
                  <a:srgbClr val="5B7A9D"/>
                </a:solidFill>
                <a:latin typeface="Calibri" pitchFamily="34" charset="0"/>
                <a:ea typeface="Calibri" pitchFamily="34" charset="-122"/>
                <a:cs typeface="Calibri" pitchFamily="34" charset="-120"/>
              </a:rPr>
              <a:t>Walk-in and phone-based appointment booking is time-consuming and inconvenient for patients.</a:t>
            </a:r>
            <a:endParaRPr lang="en-US" sz="1200" dirty="0"/>
          </a:p>
        </p:txBody>
      </p:sp>
      <p:sp>
        <p:nvSpPr>
          <p:cNvPr id="10" name="Shape 8"/>
          <p:cNvSpPr/>
          <p:nvPr/>
        </p:nvSpPr>
        <p:spPr>
          <a:xfrm>
            <a:off x="6217920" y="1828800"/>
            <a:ext cx="5120640" cy="1737360"/>
          </a:xfrm>
          <a:prstGeom prst="roundRect">
            <a:avLst>
              <a:gd name="adj" fmla="val 6316"/>
            </a:avLst>
          </a:prstGeom>
          <a:solidFill>
            <a:srgbClr val="FFFFFF"/>
          </a:solidFill>
          <a:ln/>
          <a:effectLst>
            <a:outerShdw sx="100000" sy="100000" kx="0" ky="0" algn="bl" rotWithShape="0" blurRad="127000" dist="38100" dir="5400000">
              <a:srgbClr val="0A2647">
                <a:alpha val="12000"/>
              </a:srgbClr>
            </a:outerShdw>
          </a:effectLst>
        </p:spPr>
      </p:sp>
      <p:sp>
        <p:nvSpPr>
          <p:cNvPr id="11" name="Shape 9"/>
          <p:cNvSpPr/>
          <p:nvPr/>
        </p:nvSpPr>
        <p:spPr>
          <a:xfrm>
            <a:off x="6492240" y="2103120"/>
            <a:ext cx="502920" cy="502920"/>
          </a:xfrm>
          <a:prstGeom prst="ellipse">
            <a:avLst/>
          </a:prstGeom>
          <a:solidFill>
            <a:srgbClr val="E4EFFB"/>
          </a:solidFill>
          <a:ln/>
        </p:spPr>
      </p:sp>
      <p:sp>
        <p:nvSpPr>
          <p:cNvPr id="12" name="Text 10"/>
          <p:cNvSpPr/>
          <p:nvPr/>
        </p:nvSpPr>
        <p:spPr>
          <a:xfrm>
            <a:off x="6492240" y="2103120"/>
            <a:ext cx="502920" cy="502920"/>
          </a:xfrm>
          <a:prstGeom prst="rect">
            <a:avLst/>
          </a:prstGeom>
          <a:noFill/>
          <a:ln/>
        </p:spPr>
        <p:txBody>
          <a:bodyPr wrap="square" lIns="0" tIns="0" rIns="0" bIns="0" rtlCol="0" anchor="ctr"/>
          <a:lstStyle/>
          <a:p>
            <a:pPr algn="ctr" indent="0" marL="0">
              <a:buNone/>
            </a:pPr>
            <a:r>
              <a:rPr lang="en-US" sz="1800" b="1" dirty="0">
                <a:solidFill>
                  <a:srgbClr val="205295"/>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7178040" y="2057400"/>
            <a:ext cx="3886200" cy="365760"/>
          </a:xfrm>
          <a:prstGeom prst="rect">
            <a:avLst/>
          </a:prstGeom>
          <a:noFill/>
          <a:ln/>
        </p:spPr>
        <p:txBody>
          <a:bodyPr wrap="square" lIns="0" tIns="0" rIns="0" bIns="0" rtlCol="0" anchor="ctr"/>
          <a:lstStyle/>
          <a:p>
            <a:pPr indent="0" marL="0">
              <a:buNone/>
            </a:pPr>
            <a:r>
              <a:rPr lang="en-US" sz="1500" b="1" dirty="0">
                <a:solidFill>
                  <a:srgbClr val="0A2647"/>
                </a:solidFill>
                <a:latin typeface="Calibri" pitchFamily="34" charset="0"/>
                <a:ea typeface="Calibri" pitchFamily="34" charset="-122"/>
                <a:cs typeface="Calibri" pitchFamily="34" charset="-120"/>
              </a:rPr>
              <a:t>Long Waiting Queues</a:t>
            </a:r>
            <a:endParaRPr lang="en-US" sz="1500" dirty="0"/>
          </a:p>
        </p:txBody>
      </p:sp>
      <p:sp>
        <p:nvSpPr>
          <p:cNvPr id="14" name="Text 12"/>
          <p:cNvSpPr/>
          <p:nvPr/>
        </p:nvSpPr>
        <p:spPr>
          <a:xfrm>
            <a:off x="7178040" y="2450592"/>
            <a:ext cx="3886200" cy="1005840"/>
          </a:xfrm>
          <a:prstGeom prst="rect">
            <a:avLst/>
          </a:prstGeom>
          <a:noFill/>
          <a:ln/>
        </p:spPr>
        <p:txBody>
          <a:bodyPr wrap="square" lIns="0" tIns="0" rIns="0" bIns="0" rtlCol="0" anchor="ctr"/>
          <a:lstStyle/>
          <a:p>
            <a:pPr indent="0" marL="0">
              <a:lnSpc>
                <a:spcPts val="1600"/>
              </a:lnSpc>
              <a:buNone/>
            </a:pPr>
            <a:r>
              <a:rPr lang="en-US" sz="1200" dirty="0">
                <a:solidFill>
                  <a:srgbClr val="5B7A9D"/>
                </a:solidFill>
                <a:latin typeface="Calibri" pitchFamily="34" charset="0"/>
                <a:ea typeface="Calibri" pitchFamily="34" charset="-122"/>
                <a:cs typeface="Calibri" pitchFamily="34" charset="-120"/>
              </a:rPr>
              <a:t>Lack of online scheduling leads to overcrowding and long wait times at hospital reception.</a:t>
            </a:r>
            <a:endParaRPr lang="en-US" sz="1200" dirty="0"/>
          </a:p>
        </p:txBody>
      </p:sp>
      <p:sp>
        <p:nvSpPr>
          <p:cNvPr id="15" name="Shape 13"/>
          <p:cNvSpPr/>
          <p:nvPr/>
        </p:nvSpPr>
        <p:spPr>
          <a:xfrm>
            <a:off x="640080" y="3977640"/>
            <a:ext cx="5120640" cy="1737360"/>
          </a:xfrm>
          <a:prstGeom prst="roundRect">
            <a:avLst>
              <a:gd name="adj" fmla="val 6316"/>
            </a:avLst>
          </a:prstGeom>
          <a:solidFill>
            <a:srgbClr val="FFFFFF"/>
          </a:solidFill>
          <a:ln/>
          <a:effectLst>
            <a:outerShdw sx="100000" sy="100000" kx="0" ky="0" algn="bl" rotWithShape="0" blurRad="127000" dist="38100" dir="5400000">
              <a:srgbClr val="0A2647">
                <a:alpha val="12000"/>
              </a:srgbClr>
            </a:outerShdw>
          </a:effectLst>
        </p:spPr>
      </p:sp>
      <p:sp>
        <p:nvSpPr>
          <p:cNvPr id="16" name="Shape 14"/>
          <p:cNvSpPr/>
          <p:nvPr/>
        </p:nvSpPr>
        <p:spPr>
          <a:xfrm>
            <a:off x="914400" y="4251960"/>
            <a:ext cx="502920" cy="502920"/>
          </a:xfrm>
          <a:prstGeom prst="ellipse">
            <a:avLst/>
          </a:prstGeom>
          <a:solidFill>
            <a:srgbClr val="E4EFFB"/>
          </a:solidFill>
          <a:ln/>
        </p:spPr>
      </p:sp>
      <p:sp>
        <p:nvSpPr>
          <p:cNvPr id="17" name="Text 15"/>
          <p:cNvSpPr/>
          <p:nvPr/>
        </p:nvSpPr>
        <p:spPr>
          <a:xfrm>
            <a:off x="914400" y="4251960"/>
            <a:ext cx="502920" cy="502920"/>
          </a:xfrm>
          <a:prstGeom prst="rect">
            <a:avLst/>
          </a:prstGeom>
          <a:noFill/>
          <a:ln/>
        </p:spPr>
        <p:txBody>
          <a:bodyPr wrap="square" lIns="0" tIns="0" rIns="0" bIns="0" rtlCol="0" anchor="ctr"/>
          <a:lstStyle/>
          <a:p>
            <a:pPr algn="ctr" indent="0" marL="0">
              <a:buNone/>
            </a:pPr>
            <a:r>
              <a:rPr lang="en-US" sz="1800" b="1" dirty="0">
                <a:solidFill>
                  <a:srgbClr val="205295"/>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1600200" y="4206240"/>
            <a:ext cx="3886200" cy="365760"/>
          </a:xfrm>
          <a:prstGeom prst="rect">
            <a:avLst/>
          </a:prstGeom>
          <a:noFill/>
          <a:ln/>
        </p:spPr>
        <p:txBody>
          <a:bodyPr wrap="square" lIns="0" tIns="0" rIns="0" bIns="0" rtlCol="0" anchor="ctr"/>
          <a:lstStyle/>
          <a:p>
            <a:pPr indent="0" marL="0">
              <a:buNone/>
            </a:pPr>
            <a:r>
              <a:rPr lang="en-US" sz="1500" b="1" dirty="0">
                <a:solidFill>
                  <a:srgbClr val="0A2647"/>
                </a:solidFill>
                <a:latin typeface="Calibri" pitchFamily="34" charset="0"/>
                <a:ea typeface="Calibri" pitchFamily="34" charset="-122"/>
                <a:cs typeface="Calibri" pitchFamily="34" charset="-120"/>
              </a:rPr>
              <a:t>No Centralized Visibility</a:t>
            </a:r>
            <a:endParaRPr lang="en-US" sz="1500" dirty="0"/>
          </a:p>
        </p:txBody>
      </p:sp>
      <p:sp>
        <p:nvSpPr>
          <p:cNvPr id="19" name="Text 17"/>
          <p:cNvSpPr/>
          <p:nvPr/>
        </p:nvSpPr>
        <p:spPr>
          <a:xfrm>
            <a:off x="1600200" y="4599432"/>
            <a:ext cx="3886200" cy="1005840"/>
          </a:xfrm>
          <a:prstGeom prst="rect">
            <a:avLst/>
          </a:prstGeom>
          <a:noFill/>
          <a:ln/>
        </p:spPr>
        <p:txBody>
          <a:bodyPr wrap="square" lIns="0" tIns="0" rIns="0" bIns="0" rtlCol="0" anchor="ctr"/>
          <a:lstStyle/>
          <a:p>
            <a:pPr indent="0" marL="0">
              <a:lnSpc>
                <a:spcPts val="1600"/>
              </a:lnSpc>
              <a:buNone/>
            </a:pPr>
            <a:r>
              <a:rPr lang="en-US" sz="1200" dirty="0">
                <a:solidFill>
                  <a:srgbClr val="5B7A9D"/>
                </a:solidFill>
                <a:latin typeface="Calibri" pitchFamily="34" charset="0"/>
                <a:ea typeface="Calibri" pitchFamily="34" charset="-122"/>
                <a:cs typeface="Calibri" pitchFamily="34" charset="-120"/>
              </a:rPr>
              <a:t>Patients have no easy way to view real-time doctor availability across departments.</a:t>
            </a:r>
            <a:endParaRPr lang="en-US" sz="1200" dirty="0"/>
          </a:p>
        </p:txBody>
      </p:sp>
      <p:sp>
        <p:nvSpPr>
          <p:cNvPr id="20" name="Shape 18"/>
          <p:cNvSpPr/>
          <p:nvPr/>
        </p:nvSpPr>
        <p:spPr>
          <a:xfrm>
            <a:off x="6217920" y="3977640"/>
            <a:ext cx="5120640" cy="1737360"/>
          </a:xfrm>
          <a:prstGeom prst="roundRect">
            <a:avLst>
              <a:gd name="adj" fmla="val 6316"/>
            </a:avLst>
          </a:prstGeom>
          <a:solidFill>
            <a:srgbClr val="FFFFFF"/>
          </a:solidFill>
          <a:ln/>
          <a:effectLst>
            <a:outerShdw sx="100000" sy="100000" kx="0" ky="0" algn="bl" rotWithShape="0" blurRad="127000" dist="38100" dir="5400000">
              <a:srgbClr val="0A2647">
                <a:alpha val="12000"/>
              </a:srgbClr>
            </a:outerShdw>
          </a:effectLst>
        </p:spPr>
      </p:sp>
      <p:sp>
        <p:nvSpPr>
          <p:cNvPr id="21" name="Shape 19"/>
          <p:cNvSpPr/>
          <p:nvPr/>
        </p:nvSpPr>
        <p:spPr>
          <a:xfrm>
            <a:off x="6492240" y="4251960"/>
            <a:ext cx="502920" cy="502920"/>
          </a:xfrm>
          <a:prstGeom prst="ellipse">
            <a:avLst/>
          </a:prstGeom>
          <a:solidFill>
            <a:srgbClr val="E4EFFB"/>
          </a:solidFill>
          <a:ln/>
        </p:spPr>
      </p:sp>
      <p:sp>
        <p:nvSpPr>
          <p:cNvPr id="22" name="Text 20"/>
          <p:cNvSpPr/>
          <p:nvPr/>
        </p:nvSpPr>
        <p:spPr>
          <a:xfrm>
            <a:off x="6492240" y="4251960"/>
            <a:ext cx="502920" cy="502920"/>
          </a:xfrm>
          <a:prstGeom prst="rect">
            <a:avLst/>
          </a:prstGeom>
          <a:noFill/>
          <a:ln/>
        </p:spPr>
        <p:txBody>
          <a:bodyPr wrap="square" lIns="0" tIns="0" rIns="0" bIns="0" rtlCol="0" anchor="ctr"/>
          <a:lstStyle/>
          <a:p>
            <a:pPr algn="ctr" indent="0" marL="0">
              <a:buNone/>
            </a:pPr>
            <a:r>
              <a:rPr lang="en-US" sz="1800" b="1" dirty="0">
                <a:solidFill>
                  <a:srgbClr val="205295"/>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7178040" y="4206240"/>
            <a:ext cx="3886200" cy="365760"/>
          </a:xfrm>
          <a:prstGeom prst="rect">
            <a:avLst/>
          </a:prstGeom>
          <a:noFill/>
          <a:ln/>
        </p:spPr>
        <p:txBody>
          <a:bodyPr wrap="square" lIns="0" tIns="0" rIns="0" bIns="0" rtlCol="0" anchor="ctr"/>
          <a:lstStyle/>
          <a:p>
            <a:pPr indent="0" marL="0">
              <a:buNone/>
            </a:pPr>
            <a:r>
              <a:rPr lang="en-US" sz="1500" b="1" dirty="0">
                <a:solidFill>
                  <a:srgbClr val="0A2647"/>
                </a:solidFill>
                <a:latin typeface="Calibri" pitchFamily="34" charset="0"/>
                <a:ea typeface="Calibri" pitchFamily="34" charset="-122"/>
                <a:cs typeface="Calibri" pitchFamily="34" charset="-120"/>
              </a:rPr>
              <a:t>Double-Booking Errors</a:t>
            </a:r>
            <a:endParaRPr lang="en-US" sz="1500" dirty="0"/>
          </a:p>
        </p:txBody>
      </p:sp>
      <p:sp>
        <p:nvSpPr>
          <p:cNvPr id="24" name="Text 22"/>
          <p:cNvSpPr/>
          <p:nvPr/>
        </p:nvSpPr>
        <p:spPr>
          <a:xfrm>
            <a:off x="7178040" y="4599432"/>
            <a:ext cx="3886200" cy="1005840"/>
          </a:xfrm>
          <a:prstGeom prst="rect">
            <a:avLst/>
          </a:prstGeom>
          <a:noFill/>
          <a:ln/>
        </p:spPr>
        <p:txBody>
          <a:bodyPr wrap="square" lIns="0" tIns="0" rIns="0" bIns="0" rtlCol="0" anchor="ctr"/>
          <a:lstStyle/>
          <a:p>
            <a:pPr indent="0" marL="0">
              <a:lnSpc>
                <a:spcPts val="1600"/>
              </a:lnSpc>
              <a:buNone/>
            </a:pPr>
            <a:r>
              <a:rPr lang="en-US" sz="1200" dirty="0">
                <a:solidFill>
                  <a:srgbClr val="5B7A9D"/>
                </a:solidFill>
                <a:latin typeface="Calibri" pitchFamily="34" charset="0"/>
                <a:ea typeface="Calibri" pitchFamily="34" charset="-122"/>
                <a:cs typeface="Calibri" pitchFamily="34" charset="-120"/>
              </a:rPr>
              <a:t>Without automated conflict checks, hospitals struggle to avoid overlapping appointments.</a:t>
            </a:r>
            <a:endParaRPr lang="en-US" sz="1200" dirty="0"/>
          </a:p>
        </p:txBody>
      </p:sp>
      <p:sp>
        <p:nvSpPr>
          <p:cNvPr id="26" name="Text 23"/>
          <p:cNvSpPr/>
          <p:nvPr/>
        </p:nvSpPr>
        <p:spPr>
          <a:xfrm>
            <a:off x="11612880" y="6446520"/>
            <a:ext cx="457200" cy="274320"/>
          </a:xfrm>
          <a:prstGeom prst="rect">
            <a:avLst/>
          </a:prstGeom>
          <a:noFill/>
          <a:ln/>
        </p:spPr>
        <p:txBody>
          <a:bodyPr wrap="square" rtlCol="0" anchor="ctr"/>
          <a:lstStyle/>
          <a:p>
            <a:pPr algn="r" indent="0" marL="0">
              <a:buNone/>
            </a:pPr>
            <a:r>
              <a:rPr lang="en-US" sz="1100" dirty="0">
                <a:solidFill>
                  <a:srgbClr val="5B7A9D"/>
                </a:solidFill>
                <a:latin typeface="Calibri" pitchFamily="34" charset="0"/>
                <a:ea typeface="Calibri" pitchFamily="34" charset="-122"/>
                <a:cs typeface="Calibri" pitchFamily="34" charset="-120"/>
              </a:rPr>
              <a:t>3</a:t>
            </a:r>
            <a:endParaRPr lang="en-US" sz="1100" dirty="0"/>
          </a:p>
        </p:txBody>
      </p:sp>
      <p:sp>
        <p:nvSpPr>
          <p:cNvPr id="27" name="Text 24"/>
          <p:cNvSpPr/>
          <p:nvPr/>
        </p:nvSpPr>
        <p:spPr>
          <a:xfrm>
            <a:off x="640080" y="6446520"/>
            <a:ext cx="6400800" cy="274320"/>
          </a:xfrm>
          <a:prstGeom prst="rect">
            <a:avLst/>
          </a:prstGeom>
          <a:noFill/>
          <a:ln/>
        </p:spPr>
        <p:txBody>
          <a:bodyPr wrap="square" rtlCol="0" anchor="ctr"/>
          <a:lstStyle/>
          <a:p>
            <a:pPr indent="0" marL="0">
              <a:buNone/>
            </a:pPr>
            <a:r>
              <a:rPr lang="en-US" sz="900" spc="150" kern="0" dirty="0">
                <a:solidFill>
                  <a:srgbClr val="A9BBD0"/>
                </a:solidFill>
                <a:latin typeface="Calibri" pitchFamily="34" charset="0"/>
                <a:ea typeface="Calibri" pitchFamily="34" charset="-122"/>
                <a:cs typeface="Calibri" pitchFamily="34" charset="-120"/>
              </a:rPr>
              <a:t>HEALTHCARE APPOINTMENT BOOKING SYSTEM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C"/>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250" b="1" spc="250" kern="0" dirty="0">
                <a:solidFill>
                  <a:srgbClr val="2C74B3"/>
                </a:solidFill>
                <a:latin typeface="Calibri" pitchFamily="34" charset="0"/>
                <a:ea typeface="Calibri" pitchFamily="34" charset="-122"/>
                <a:cs typeface="Calibri" pitchFamily="34" charset="-120"/>
              </a:rPr>
              <a:t>OUR APPROACH</a:t>
            </a:r>
            <a:endParaRPr lang="en-US" sz="1250" dirty="0"/>
          </a:p>
        </p:txBody>
      </p:sp>
      <p:sp>
        <p:nvSpPr>
          <p:cNvPr id="3" name="Text 1"/>
          <p:cNvSpPr/>
          <p:nvPr/>
        </p:nvSpPr>
        <p:spPr>
          <a:xfrm>
            <a:off x="640080" y="749808"/>
            <a:ext cx="10515600" cy="731520"/>
          </a:xfrm>
          <a:prstGeom prst="rect">
            <a:avLst/>
          </a:prstGeom>
          <a:noFill/>
          <a:ln/>
        </p:spPr>
        <p:txBody>
          <a:bodyPr wrap="square" lIns="0" tIns="0" rIns="0" bIns="0" rtlCol="0" anchor="ctr"/>
          <a:lstStyle/>
          <a:p>
            <a:pPr indent="0" marL="0">
              <a:buNone/>
            </a:pPr>
            <a:r>
              <a:rPr lang="en-US" sz="3200" b="1" dirty="0">
                <a:solidFill>
                  <a:srgbClr val="0A2647"/>
                </a:solidFill>
                <a:latin typeface="Cambria" pitchFamily="34" charset="0"/>
                <a:ea typeface="Cambria" pitchFamily="34" charset="-122"/>
                <a:cs typeface="Cambria" pitchFamily="34" charset="-120"/>
              </a:rPr>
              <a:t>Solution Overview</a:t>
            </a:r>
            <a:endParaRPr lang="en-US" sz="3200" dirty="0"/>
          </a:p>
        </p:txBody>
      </p:sp>
      <p:sp>
        <p:nvSpPr>
          <p:cNvPr id="4" name="Shape 2"/>
          <p:cNvSpPr/>
          <p:nvPr/>
        </p:nvSpPr>
        <p:spPr>
          <a:xfrm>
            <a:off x="11475720" y="457200"/>
            <a:ext cx="128016" cy="128016"/>
          </a:xfrm>
          <a:prstGeom prst="ellipse">
            <a:avLst/>
          </a:prstGeom>
          <a:solidFill>
            <a:srgbClr val="5DE0E6"/>
          </a:solidFill>
          <a:ln/>
        </p:spPr>
      </p:sp>
      <p:sp>
        <p:nvSpPr>
          <p:cNvPr id="5" name="Text 3"/>
          <p:cNvSpPr/>
          <p:nvPr/>
        </p:nvSpPr>
        <p:spPr>
          <a:xfrm>
            <a:off x="640080" y="1600200"/>
            <a:ext cx="6492240" cy="868680"/>
          </a:xfrm>
          <a:prstGeom prst="rect">
            <a:avLst/>
          </a:prstGeom>
          <a:noFill/>
          <a:ln/>
        </p:spPr>
        <p:txBody>
          <a:bodyPr wrap="square" lIns="0" tIns="0" rIns="0" bIns="0" rtlCol="0" anchor="ctr"/>
          <a:lstStyle/>
          <a:p>
            <a:pPr indent="0" marL="0">
              <a:lnSpc>
                <a:spcPts val="1900"/>
              </a:lnSpc>
              <a:buNone/>
            </a:pPr>
            <a:r>
              <a:rPr lang="en-US" sz="1350" dirty="0">
                <a:solidFill>
                  <a:srgbClr val="5B7A9D"/>
                </a:solidFill>
                <a:latin typeface="Calibri" pitchFamily="34" charset="0"/>
                <a:ea typeface="Calibri" pitchFamily="34" charset="-122"/>
                <a:cs typeface="Calibri" pitchFamily="34" charset="-120"/>
              </a:rPr>
              <a:t>A cloud-native web platform that lets patients search doctors, check real-time availability, and book appointments instantly — while hospitals get a scalable, serverless backend to manage scheduling.</a:t>
            </a:r>
            <a:endParaRPr lang="en-US" sz="1350" dirty="0"/>
          </a:p>
        </p:txBody>
      </p:sp>
      <p:sp>
        <p:nvSpPr>
          <p:cNvPr id="6" name="Shape 4"/>
          <p:cNvSpPr/>
          <p:nvPr/>
        </p:nvSpPr>
        <p:spPr>
          <a:xfrm>
            <a:off x="640080" y="2606040"/>
            <a:ext cx="310896" cy="310896"/>
          </a:xfrm>
          <a:prstGeom prst="ellipse">
            <a:avLst/>
          </a:prstGeom>
          <a:solidFill>
            <a:srgbClr val="205295"/>
          </a:solidFill>
          <a:ln/>
        </p:spPr>
      </p:sp>
      <p:sp>
        <p:nvSpPr>
          <p:cNvPr id="7" name="Text 5"/>
          <p:cNvSpPr/>
          <p:nvPr/>
        </p:nvSpPr>
        <p:spPr>
          <a:xfrm>
            <a:off x="640080" y="26060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143000" y="2551176"/>
            <a:ext cx="6400800" cy="457200"/>
          </a:xfrm>
          <a:prstGeom prst="rect">
            <a:avLst/>
          </a:prstGeom>
          <a:noFill/>
          <a:ln/>
        </p:spPr>
        <p:txBody>
          <a:bodyPr wrap="square" lIns="0" tIns="0" rIns="0" bIns="0" rtlCol="0" anchor="ctr"/>
          <a:lstStyle/>
          <a:p>
            <a:pPr indent="0" marL="0">
              <a:buNone/>
            </a:pPr>
            <a:r>
              <a:rPr lang="en-US" sz="1250" dirty="0">
                <a:solidFill>
                  <a:srgbClr val="0A2647"/>
                </a:solidFill>
                <a:latin typeface="Calibri" pitchFamily="34" charset="0"/>
                <a:ea typeface="Calibri" pitchFamily="34" charset="-122"/>
                <a:cs typeface="Calibri" pitchFamily="34" charset="-120"/>
              </a:rPr>
              <a:t>Patients and doctors create an account and log in safely.</a:t>
            </a:r>
            <a:endParaRPr lang="en-US" sz="1250" dirty="0"/>
          </a:p>
        </p:txBody>
      </p:sp>
      <p:sp>
        <p:nvSpPr>
          <p:cNvPr id="9" name="Shape 7"/>
          <p:cNvSpPr/>
          <p:nvPr/>
        </p:nvSpPr>
        <p:spPr>
          <a:xfrm>
            <a:off x="640080" y="3227832"/>
            <a:ext cx="310896" cy="310896"/>
          </a:xfrm>
          <a:prstGeom prst="ellipse">
            <a:avLst/>
          </a:prstGeom>
          <a:solidFill>
            <a:srgbClr val="205295"/>
          </a:solidFill>
          <a:ln/>
        </p:spPr>
      </p:sp>
      <p:sp>
        <p:nvSpPr>
          <p:cNvPr id="10" name="Text 8"/>
          <p:cNvSpPr/>
          <p:nvPr/>
        </p:nvSpPr>
        <p:spPr>
          <a:xfrm>
            <a:off x="640080" y="32278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143000" y="3172968"/>
            <a:ext cx="6400800" cy="457200"/>
          </a:xfrm>
          <a:prstGeom prst="rect">
            <a:avLst/>
          </a:prstGeom>
          <a:noFill/>
          <a:ln/>
        </p:spPr>
        <p:txBody>
          <a:bodyPr wrap="square" lIns="0" tIns="0" rIns="0" bIns="0" rtlCol="0" anchor="ctr"/>
          <a:lstStyle/>
          <a:p>
            <a:pPr indent="0" marL="0">
              <a:buNone/>
            </a:pPr>
            <a:r>
              <a:rPr lang="en-US" sz="1250" dirty="0">
                <a:solidFill>
                  <a:srgbClr val="0A2647"/>
                </a:solidFill>
                <a:latin typeface="Calibri" pitchFamily="34" charset="0"/>
                <a:ea typeface="Calibri" pitchFamily="34" charset="-122"/>
                <a:cs typeface="Calibri" pitchFamily="34" charset="-120"/>
              </a:rPr>
              <a:t>Patients search for a doctor and check their free time slots.</a:t>
            </a:r>
            <a:endParaRPr lang="en-US" sz="1250" dirty="0"/>
          </a:p>
        </p:txBody>
      </p:sp>
      <p:sp>
        <p:nvSpPr>
          <p:cNvPr id="12" name="Shape 10"/>
          <p:cNvSpPr/>
          <p:nvPr/>
        </p:nvSpPr>
        <p:spPr>
          <a:xfrm>
            <a:off x="640080" y="3849624"/>
            <a:ext cx="310896" cy="310896"/>
          </a:xfrm>
          <a:prstGeom prst="ellipse">
            <a:avLst/>
          </a:prstGeom>
          <a:solidFill>
            <a:srgbClr val="205295"/>
          </a:solidFill>
          <a:ln/>
        </p:spPr>
      </p:sp>
      <p:sp>
        <p:nvSpPr>
          <p:cNvPr id="13" name="Text 11"/>
          <p:cNvSpPr/>
          <p:nvPr/>
        </p:nvSpPr>
        <p:spPr>
          <a:xfrm>
            <a:off x="640080" y="38496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143000" y="3794760"/>
            <a:ext cx="6400800" cy="457200"/>
          </a:xfrm>
          <a:prstGeom prst="rect">
            <a:avLst/>
          </a:prstGeom>
          <a:noFill/>
          <a:ln/>
        </p:spPr>
        <p:txBody>
          <a:bodyPr wrap="square" lIns="0" tIns="0" rIns="0" bIns="0" rtlCol="0" anchor="ctr"/>
          <a:lstStyle/>
          <a:p>
            <a:pPr indent="0" marL="0">
              <a:buNone/>
            </a:pPr>
            <a:r>
              <a:rPr lang="en-US" sz="1250" dirty="0">
                <a:solidFill>
                  <a:srgbClr val="0A2647"/>
                </a:solidFill>
                <a:latin typeface="Calibri" pitchFamily="34" charset="0"/>
                <a:ea typeface="Calibri" pitchFamily="34" charset="-122"/>
                <a:cs typeface="Calibri" pitchFamily="34" charset="-120"/>
              </a:rPr>
              <a:t>Patient picks a slot and books the appointment in one click.</a:t>
            </a:r>
            <a:endParaRPr lang="en-US" sz="1250" dirty="0"/>
          </a:p>
        </p:txBody>
      </p:sp>
      <p:sp>
        <p:nvSpPr>
          <p:cNvPr id="15" name="Shape 13"/>
          <p:cNvSpPr/>
          <p:nvPr/>
        </p:nvSpPr>
        <p:spPr>
          <a:xfrm>
            <a:off x="640080" y="4471416"/>
            <a:ext cx="310896" cy="310896"/>
          </a:xfrm>
          <a:prstGeom prst="ellipse">
            <a:avLst/>
          </a:prstGeom>
          <a:solidFill>
            <a:srgbClr val="205295"/>
          </a:solidFill>
          <a:ln/>
        </p:spPr>
      </p:sp>
      <p:sp>
        <p:nvSpPr>
          <p:cNvPr id="16" name="Text 14"/>
          <p:cNvSpPr/>
          <p:nvPr/>
        </p:nvSpPr>
        <p:spPr>
          <a:xfrm>
            <a:off x="640080" y="44714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1143000" y="4416552"/>
            <a:ext cx="6400800" cy="457200"/>
          </a:xfrm>
          <a:prstGeom prst="rect">
            <a:avLst/>
          </a:prstGeom>
          <a:noFill/>
          <a:ln/>
        </p:spPr>
        <p:txBody>
          <a:bodyPr wrap="square" lIns="0" tIns="0" rIns="0" bIns="0" rtlCol="0" anchor="ctr"/>
          <a:lstStyle/>
          <a:p>
            <a:pPr indent="0" marL="0">
              <a:buNone/>
            </a:pPr>
            <a:r>
              <a:rPr lang="en-US" sz="1250" dirty="0">
                <a:solidFill>
                  <a:srgbClr val="0A2647"/>
                </a:solidFill>
                <a:latin typeface="Calibri" pitchFamily="34" charset="0"/>
                <a:ea typeface="Calibri" pitchFamily="34" charset="-122"/>
                <a:cs typeface="Calibri" pitchFamily="34" charset="-120"/>
              </a:rPr>
              <a:t>The system checks automatically so no two patients get the same slot.</a:t>
            </a:r>
            <a:endParaRPr lang="en-US" sz="1250" dirty="0"/>
          </a:p>
        </p:txBody>
      </p:sp>
      <p:sp>
        <p:nvSpPr>
          <p:cNvPr id="18" name="Shape 16"/>
          <p:cNvSpPr/>
          <p:nvPr/>
        </p:nvSpPr>
        <p:spPr>
          <a:xfrm>
            <a:off x="640080" y="5093208"/>
            <a:ext cx="310896" cy="310896"/>
          </a:xfrm>
          <a:prstGeom prst="ellipse">
            <a:avLst/>
          </a:prstGeom>
          <a:solidFill>
            <a:srgbClr val="205295"/>
          </a:solidFill>
          <a:ln/>
        </p:spPr>
      </p:sp>
      <p:sp>
        <p:nvSpPr>
          <p:cNvPr id="19" name="Text 17"/>
          <p:cNvSpPr/>
          <p:nvPr/>
        </p:nvSpPr>
        <p:spPr>
          <a:xfrm>
            <a:off x="640080" y="509320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0" name="Text 18"/>
          <p:cNvSpPr/>
          <p:nvPr/>
        </p:nvSpPr>
        <p:spPr>
          <a:xfrm>
            <a:off x="1143000" y="5038344"/>
            <a:ext cx="6400800" cy="457200"/>
          </a:xfrm>
          <a:prstGeom prst="rect">
            <a:avLst/>
          </a:prstGeom>
          <a:noFill/>
          <a:ln/>
        </p:spPr>
        <p:txBody>
          <a:bodyPr wrap="square" lIns="0" tIns="0" rIns="0" bIns="0" rtlCol="0" anchor="ctr"/>
          <a:lstStyle/>
          <a:p>
            <a:pPr indent="0" marL="0">
              <a:buNone/>
            </a:pPr>
            <a:r>
              <a:rPr lang="en-US" sz="1250" dirty="0">
                <a:solidFill>
                  <a:srgbClr val="0A2647"/>
                </a:solidFill>
                <a:latin typeface="Calibri" pitchFamily="34" charset="0"/>
                <a:ea typeface="Calibri" pitchFamily="34" charset="-122"/>
                <a:cs typeface="Calibri" pitchFamily="34" charset="-120"/>
              </a:rPr>
              <a:t>Patient gets an instant email / SMS confirming the appointment.</a:t>
            </a:r>
            <a:endParaRPr lang="en-US" sz="1250" dirty="0"/>
          </a:p>
        </p:txBody>
      </p:sp>
      <p:sp>
        <p:nvSpPr>
          <p:cNvPr id="21" name="Shape 19"/>
          <p:cNvSpPr/>
          <p:nvPr/>
        </p:nvSpPr>
        <p:spPr>
          <a:xfrm>
            <a:off x="640080" y="5715000"/>
            <a:ext cx="310896" cy="310896"/>
          </a:xfrm>
          <a:prstGeom prst="ellipse">
            <a:avLst/>
          </a:prstGeom>
          <a:solidFill>
            <a:srgbClr val="205295"/>
          </a:solidFill>
          <a:ln/>
        </p:spPr>
      </p:sp>
      <p:sp>
        <p:nvSpPr>
          <p:cNvPr id="22" name="Text 20"/>
          <p:cNvSpPr/>
          <p:nvPr/>
        </p:nvSpPr>
        <p:spPr>
          <a:xfrm>
            <a:off x="640080" y="57150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3" name="Text 21"/>
          <p:cNvSpPr/>
          <p:nvPr/>
        </p:nvSpPr>
        <p:spPr>
          <a:xfrm>
            <a:off x="1143000" y="5660136"/>
            <a:ext cx="6400800" cy="457200"/>
          </a:xfrm>
          <a:prstGeom prst="rect">
            <a:avLst/>
          </a:prstGeom>
          <a:noFill/>
          <a:ln/>
        </p:spPr>
        <p:txBody>
          <a:bodyPr wrap="square" lIns="0" tIns="0" rIns="0" bIns="0" rtlCol="0" anchor="ctr"/>
          <a:lstStyle/>
          <a:p>
            <a:pPr indent="0" marL="0">
              <a:buNone/>
            </a:pPr>
            <a:r>
              <a:rPr lang="en-US" sz="1250" dirty="0">
                <a:solidFill>
                  <a:srgbClr val="0A2647"/>
                </a:solidFill>
                <a:latin typeface="Calibri" pitchFamily="34" charset="0"/>
                <a:ea typeface="Calibri" pitchFamily="34" charset="-122"/>
                <a:cs typeface="Calibri" pitchFamily="34" charset="-120"/>
              </a:rPr>
              <a:t>All the data is safely stored and managed on the cloud (AWS).</a:t>
            </a:r>
            <a:endParaRPr lang="en-US" sz="1250" dirty="0"/>
          </a:p>
        </p:txBody>
      </p:sp>
      <p:sp>
        <p:nvSpPr>
          <p:cNvPr id="24" name="Shape 22"/>
          <p:cNvSpPr/>
          <p:nvPr/>
        </p:nvSpPr>
        <p:spPr>
          <a:xfrm>
            <a:off x="7863840" y="1600200"/>
            <a:ext cx="3703320" cy="4572000"/>
          </a:xfrm>
          <a:prstGeom prst="roundRect">
            <a:avLst>
              <a:gd name="adj" fmla="val 2963"/>
            </a:avLst>
          </a:prstGeom>
          <a:solidFill>
            <a:srgbClr val="0A2647"/>
          </a:solidFill>
          <a:ln/>
          <a:effectLst>
            <a:outerShdw sx="100000" sy="100000" kx="0" ky="0" algn="bl" rotWithShape="0" blurRad="152400" dist="50800" dir="5400000">
              <a:srgbClr val="0A2647">
                <a:alpha val="25000"/>
              </a:srgbClr>
            </a:outerShdw>
          </a:effectLst>
        </p:spPr>
      </p:sp>
      <p:sp>
        <p:nvSpPr>
          <p:cNvPr id="25" name="Shape 23"/>
          <p:cNvSpPr/>
          <p:nvPr/>
        </p:nvSpPr>
        <p:spPr>
          <a:xfrm>
            <a:off x="9189720" y="1965960"/>
            <a:ext cx="1051560" cy="1051560"/>
          </a:xfrm>
          <a:prstGeom prst="ellipse">
            <a:avLst/>
          </a:prstGeom>
          <a:solidFill>
            <a:srgbClr val="205295"/>
          </a:solidFill>
          <a:ln/>
          <a:effectLst>
            <a:outerShdw sx="100000" sy="100000" kx="0" ky="0" algn="bl" rotWithShape="0" blurRad="101600" dist="38100" dir="5400000">
              <a:srgbClr val="000000">
                <a:alpha val="30000"/>
              </a:srgbClr>
            </a:outerShdw>
          </a:effectLst>
        </p:spPr>
      </p:sp>
      <p:pic>
        <p:nvPicPr>
          <p:cNvPr id="26" name="Image 0" descr="/home/claude/icons/hospital.png">    </p:cNvPr>
          <p:cNvPicPr>
            <a:picLocks noChangeAspect="1"/>
          </p:cNvPicPr>
          <p:nvPr/>
        </p:nvPicPr>
        <p:blipFill>
          <a:blip r:embed="rId1"/>
          <a:stretch>
            <a:fillRect/>
          </a:stretch>
        </p:blipFill>
        <p:spPr>
          <a:xfrm>
            <a:off x="9426321" y="2202561"/>
            <a:ext cx="578358" cy="578358"/>
          </a:xfrm>
          <a:prstGeom prst="rect">
            <a:avLst/>
          </a:prstGeom>
        </p:spPr>
      </p:pic>
      <p:sp>
        <p:nvSpPr>
          <p:cNvPr id="27" name="Text 24"/>
          <p:cNvSpPr/>
          <p:nvPr/>
        </p:nvSpPr>
        <p:spPr>
          <a:xfrm>
            <a:off x="8092440" y="3200400"/>
            <a:ext cx="3154680"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Cloud-Native</a:t>
            </a:r>
            <a:endParaRPr lang="en-US" sz="1500" dirty="0"/>
          </a:p>
          <a:p>
            <a:pPr algn="ctr" indent="0" marL="0">
              <a:buNone/>
            </a:pPr>
            <a:r>
              <a:rPr lang="en-US" sz="1500" b="1" dirty="0">
                <a:solidFill>
                  <a:srgbClr val="FFFFFF"/>
                </a:solidFill>
                <a:latin typeface="Cambria" pitchFamily="34" charset="0"/>
                <a:ea typeface="Cambria" pitchFamily="34" charset="-122"/>
                <a:cs typeface="Cambria" pitchFamily="34" charset="-120"/>
              </a:rPr>
              <a:t>Healthcare Platform</a:t>
            </a:r>
            <a:endParaRPr lang="en-US" sz="1500" dirty="0"/>
          </a:p>
        </p:txBody>
      </p:sp>
      <p:sp>
        <p:nvSpPr>
          <p:cNvPr id="28" name="Text 25"/>
          <p:cNvSpPr/>
          <p:nvPr/>
        </p:nvSpPr>
        <p:spPr>
          <a:xfrm>
            <a:off x="8229600" y="3886200"/>
            <a:ext cx="2971800" cy="822960"/>
          </a:xfrm>
          <a:prstGeom prst="rect">
            <a:avLst/>
          </a:prstGeom>
          <a:noFill/>
          <a:ln/>
        </p:spPr>
        <p:txBody>
          <a:bodyPr wrap="square" lIns="0" tIns="0" rIns="0" bIns="0" rtlCol="0" anchor="ctr"/>
          <a:lstStyle/>
          <a:p>
            <a:pPr algn="ctr" indent="0" marL="0">
              <a:lnSpc>
                <a:spcPts val="1500"/>
              </a:lnSpc>
              <a:buNone/>
            </a:pPr>
            <a:r>
              <a:rPr lang="en-US" sz="1100" dirty="0">
                <a:solidFill>
                  <a:srgbClr val="CFE8FF"/>
                </a:solidFill>
                <a:latin typeface="Calibri" pitchFamily="34" charset="0"/>
                <a:ea typeface="Calibri" pitchFamily="34" charset="-122"/>
                <a:cs typeface="Calibri" pitchFamily="34" charset="-120"/>
              </a:rPr>
              <a:t>Built on AWS cloud so it stays fast, safe, and works for many users at once.</a:t>
            </a:r>
            <a:endParaRPr lang="en-US" sz="1100" dirty="0"/>
          </a:p>
        </p:txBody>
      </p:sp>
      <p:sp>
        <p:nvSpPr>
          <p:cNvPr id="29" name="Shape 26"/>
          <p:cNvSpPr/>
          <p:nvPr/>
        </p:nvSpPr>
        <p:spPr>
          <a:xfrm>
            <a:off x="8595360" y="4892040"/>
            <a:ext cx="777240" cy="777240"/>
          </a:xfrm>
          <a:prstGeom prst="ellipse">
            <a:avLst/>
          </a:prstGeom>
          <a:solidFill>
            <a:srgbClr val="2C74B3"/>
          </a:solidFill>
          <a:ln/>
        </p:spPr>
      </p:sp>
      <p:pic>
        <p:nvPicPr>
          <p:cNvPr id="30" name="Image 1" descr="/home/claude/icons/cloud.png">    </p:cNvPr>
          <p:cNvPicPr>
            <a:picLocks noChangeAspect="1"/>
          </p:cNvPicPr>
          <p:nvPr/>
        </p:nvPicPr>
        <p:blipFill>
          <a:blip r:embed="rId2"/>
          <a:stretch>
            <a:fillRect/>
          </a:stretch>
        </p:blipFill>
        <p:spPr>
          <a:xfrm>
            <a:off x="8770239" y="5066919"/>
            <a:ext cx="427482" cy="427482"/>
          </a:xfrm>
          <a:prstGeom prst="rect">
            <a:avLst/>
          </a:prstGeom>
        </p:spPr>
      </p:pic>
      <p:sp>
        <p:nvSpPr>
          <p:cNvPr id="31" name="Shape 27"/>
          <p:cNvSpPr/>
          <p:nvPr/>
        </p:nvSpPr>
        <p:spPr>
          <a:xfrm>
            <a:off x="9692640" y="4892040"/>
            <a:ext cx="777240" cy="777240"/>
          </a:xfrm>
          <a:prstGeom prst="ellipse">
            <a:avLst/>
          </a:prstGeom>
          <a:solidFill>
            <a:srgbClr val="1B4965"/>
          </a:solidFill>
          <a:ln/>
        </p:spPr>
      </p:sp>
      <p:pic>
        <p:nvPicPr>
          <p:cNvPr id="32" name="Image 2" descr="/home/claude/icons/aws.png">    </p:cNvPr>
          <p:cNvPicPr>
            <a:picLocks noChangeAspect="1"/>
          </p:cNvPicPr>
          <p:nvPr/>
        </p:nvPicPr>
        <p:blipFill>
          <a:blip r:embed="rId3"/>
          <a:stretch>
            <a:fillRect/>
          </a:stretch>
        </p:blipFill>
        <p:spPr>
          <a:xfrm>
            <a:off x="9867519" y="5066919"/>
            <a:ext cx="427482" cy="427482"/>
          </a:xfrm>
          <a:prstGeom prst="rect">
            <a:avLst/>
          </a:prstGeom>
        </p:spPr>
      </p:pic>
      <p:sp>
        <p:nvSpPr>
          <p:cNvPr id="34" name="Text 28"/>
          <p:cNvSpPr/>
          <p:nvPr/>
        </p:nvSpPr>
        <p:spPr>
          <a:xfrm>
            <a:off x="11612880" y="6446520"/>
            <a:ext cx="457200" cy="274320"/>
          </a:xfrm>
          <a:prstGeom prst="rect">
            <a:avLst/>
          </a:prstGeom>
          <a:noFill/>
          <a:ln/>
        </p:spPr>
        <p:txBody>
          <a:bodyPr wrap="square" rtlCol="0" anchor="ctr"/>
          <a:lstStyle/>
          <a:p>
            <a:pPr algn="r" indent="0" marL="0">
              <a:buNone/>
            </a:pPr>
            <a:r>
              <a:rPr lang="en-US" sz="1100" dirty="0">
                <a:solidFill>
                  <a:srgbClr val="5B7A9D"/>
                </a:solidFill>
                <a:latin typeface="Calibri" pitchFamily="34" charset="0"/>
                <a:ea typeface="Calibri" pitchFamily="34" charset="-122"/>
                <a:cs typeface="Calibri" pitchFamily="34" charset="-120"/>
              </a:rPr>
              <a:t>4</a:t>
            </a:r>
            <a:endParaRPr lang="en-US" sz="1100" dirty="0"/>
          </a:p>
        </p:txBody>
      </p:sp>
      <p:sp>
        <p:nvSpPr>
          <p:cNvPr id="35" name="Text 29"/>
          <p:cNvSpPr/>
          <p:nvPr/>
        </p:nvSpPr>
        <p:spPr>
          <a:xfrm>
            <a:off x="640080" y="6446520"/>
            <a:ext cx="6400800" cy="274320"/>
          </a:xfrm>
          <a:prstGeom prst="rect">
            <a:avLst/>
          </a:prstGeom>
          <a:noFill/>
          <a:ln/>
        </p:spPr>
        <p:txBody>
          <a:bodyPr wrap="square" rtlCol="0" anchor="ctr"/>
          <a:lstStyle/>
          <a:p>
            <a:pPr indent="0" marL="0">
              <a:buNone/>
            </a:pPr>
            <a:r>
              <a:rPr lang="en-US" sz="900" spc="150" kern="0" dirty="0">
                <a:solidFill>
                  <a:srgbClr val="A9BBD0"/>
                </a:solidFill>
                <a:latin typeface="Calibri" pitchFamily="34" charset="0"/>
                <a:ea typeface="Calibri" pitchFamily="34" charset="-122"/>
                <a:cs typeface="Calibri" pitchFamily="34" charset="-120"/>
              </a:rPr>
              <a:t>HEALTHCARE APPOINTMENT BOOKING SYSTEM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2647"/>
        </a:solidFill>
      </p:bgPr>
    </p:bg>
    <p:spTree>
      <p:nvGrpSpPr>
        <p:cNvPr id="1" name=""/>
        <p:cNvGrpSpPr/>
        <p:nvPr/>
      </p:nvGrpSpPr>
      <p:grpSpPr>
        <a:xfrm>
          <a:off x="0" y="0"/>
          <a:ext cx="0" cy="0"/>
          <a:chOff x="0" y="0"/>
          <a:chExt cx="0" cy="0"/>
        </a:xfrm>
      </p:grpSpPr>
      <p:sp>
        <p:nvSpPr>
          <p:cNvPr id="2" name="Shape 0"/>
          <p:cNvSpPr/>
          <p:nvPr/>
        </p:nvSpPr>
        <p:spPr>
          <a:xfrm>
            <a:off x="-2743200" y="-2743200"/>
            <a:ext cx="6400800" cy="6400800"/>
          </a:xfrm>
          <a:prstGeom prst="ellipse">
            <a:avLst/>
          </a:prstGeom>
          <a:solidFill>
            <a:srgbClr val="144272">
              <a:alpha val="60000"/>
            </a:srgbClr>
          </a:solidFill>
          <a:ln/>
        </p:spPr>
      </p:sp>
      <p:sp>
        <p:nvSpPr>
          <p:cNvPr id="3" name="Text 1"/>
          <p:cNvSpPr/>
          <p:nvPr/>
        </p:nvSpPr>
        <p:spPr>
          <a:xfrm>
            <a:off x="640080" y="502920"/>
            <a:ext cx="2743200" cy="502920"/>
          </a:xfrm>
          <a:prstGeom prst="rect">
            <a:avLst/>
          </a:prstGeom>
          <a:noFill/>
          <a:ln/>
        </p:spPr>
        <p:txBody>
          <a:bodyPr wrap="square" rtlCol="0" anchor="ctr"/>
          <a:lstStyle/>
          <a:p>
            <a:pPr indent="0" marL="0">
              <a:buNone/>
            </a:pPr>
            <a:r>
              <a:rPr lang="en-US" sz="1300" b="1" spc="300" kern="0" dirty="0">
                <a:solidFill>
                  <a:srgbClr val="5DE0E6"/>
                </a:solidFill>
                <a:latin typeface="Calibri" pitchFamily="34" charset="0"/>
                <a:ea typeface="Calibri" pitchFamily="34" charset="-122"/>
                <a:cs typeface="Calibri" pitchFamily="34" charset="-120"/>
              </a:rPr>
              <a:t>KEY</a:t>
            </a:r>
            <a:endParaRPr lang="en-US" sz="1300" dirty="0"/>
          </a:p>
        </p:txBody>
      </p:sp>
      <p:sp>
        <p:nvSpPr>
          <p:cNvPr id="4" name="Text 2"/>
          <p:cNvSpPr/>
          <p:nvPr/>
        </p:nvSpPr>
        <p:spPr>
          <a:xfrm>
            <a:off x="640080" y="777240"/>
            <a:ext cx="73152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Features</a:t>
            </a:r>
            <a:endParaRPr lang="en-US" sz="3200" dirty="0"/>
          </a:p>
        </p:txBody>
      </p:sp>
      <p:sp>
        <p:nvSpPr>
          <p:cNvPr id="5" name="Shape 3"/>
          <p:cNvSpPr/>
          <p:nvPr/>
        </p:nvSpPr>
        <p:spPr>
          <a:xfrm>
            <a:off x="640080" y="1783080"/>
            <a:ext cx="3520440" cy="1965960"/>
          </a:xfrm>
          <a:prstGeom prst="roundRect">
            <a:avLst>
              <a:gd name="adj" fmla="val 4651"/>
            </a:avLst>
          </a:prstGeom>
          <a:solidFill>
            <a:srgbClr val="144272">
              <a:alpha val="80000"/>
            </a:srgbClr>
          </a:solidFill>
          <a:ln w="9525">
            <a:solidFill>
              <a:srgbClr val="2C74B3">
                <a:alpha val="60000"/>
              </a:srgbClr>
            </a:solidFill>
            <a:prstDash val="solid"/>
          </a:ln>
        </p:spPr>
      </p:sp>
      <p:sp>
        <p:nvSpPr>
          <p:cNvPr id="6" name="Shape 4"/>
          <p:cNvSpPr/>
          <p:nvPr/>
        </p:nvSpPr>
        <p:spPr>
          <a:xfrm>
            <a:off x="896112" y="2039112"/>
            <a:ext cx="685800" cy="685800"/>
          </a:xfrm>
          <a:prstGeom prst="ellipse">
            <a:avLst/>
          </a:prstGeom>
          <a:solidFill>
            <a:srgbClr val="205295"/>
          </a:solidFill>
          <a:ln/>
        </p:spPr>
      </p:sp>
      <p:pic>
        <p:nvPicPr>
          <p:cNvPr id="7" name="Image 0" descr="/home/claude/icons/hospital.png">    </p:cNvPr>
          <p:cNvPicPr>
            <a:picLocks noChangeAspect="1"/>
          </p:cNvPicPr>
          <p:nvPr/>
        </p:nvPicPr>
        <p:blipFill>
          <a:blip r:embed="rId1"/>
          <a:stretch>
            <a:fillRect/>
          </a:stretch>
        </p:blipFill>
        <p:spPr>
          <a:xfrm>
            <a:off x="1050417" y="2193417"/>
            <a:ext cx="377190" cy="377190"/>
          </a:xfrm>
          <a:prstGeom prst="rect">
            <a:avLst/>
          </a:prstGeom>
        </p:spPr>
      </p:pic>
      <p:sp>
        <p:nvSpPr>
          <p:cNvPr id="8" name="Text 5"/>
          <p:cNvSpPr/>
          <p:nvPr/>
        </p:nvSpPr>
        <p:spPr>
          <a:xfrm>
            <a:off x="896112" y="2788920"/>
            <a:ext cx="3008376"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Secure Login</a:t>
            </a:r>
            <a:endParaRPr lang="en-US" sz="1450" dirty="0"/>
          </a:p>
        </p:txBody>
      </p:sp>
      <p:sp>
        <p:nvSpPr>
          <p:cNvPr id="9" name="Text 6"/>
          <p:cNvSpPr/>
          <p:nvPr/>
        </p:nvSpPr>
        <p:spPr>
          <a:xfrm>
            <a:off x="896112" y="3108960"/>
            <a:ext cx="3008376" cy="548640"/>
          </a:xfrm>
          <a:prstGeom prst="rect">
            <a:avLst/>
          </a:prstGeom>
          <a:noFill/>
          <a:ln/>
        </p:spPr>
        <p:txBody>
          <a:bodyPr wrap="square" lIns="0" tIns="0" rIns="0" bIns="0" rtlCol="0" anchor="ctr"/>
          <a:lstStyle/>
          <a:p>
            <a:pPr indent="0" marL="0">
              <a:lnSpc>
                <a:spcPts val="1300"/>
              </a:lnSpc>
              <a:buNone/>
            </a:pPr>
            <a:r>
              <a:rPr lang="en-US" sz="1050" dirty="0">
                <a:solidFill>
                  <a:srgbClr val="BBD4EE"/>
                </a:solidFill>
                <a:latin typeface="Calibri" pitchFamily="34" charset="0"/>
                <a:ea typeface="Calibri" pitchFamily="34" charset="-122"/>
                <a:cs typeface="Calibri" pitchFamily="34" charset="-120"/>
              </a:rPr>
              <a:t>Only real patients and doctors can log in to the app</a:t>
            </a:r>
            <a:endParaRPr lang="en-US" sz="1050" dirty="0"/>
          </a:p>
        </p:txBody>
      </p:sp>
      <p:sp>
        <p:nvSpPr>
          <p:cNvPr id="10" name="Shape 7"/>
          <p:cNvSpPr/>
          <p:nvPr/>
        </p:nvSpPr>
        <p:spPr>
          <a:xfrm>
            <a:off x="4480560" y="1783080"/>
            <a:ext cx="3520440" cy="1965960"/>
          </a:xfrm>
          <a:prstGeom prst="roundRect">
            <a:avLst>
              <a:gd name="adj" fmla="val 4651"/>
            </a:avLst>
          </a:prstGeom>
          <a:solidFill>
            <a:srgbClr val="144272">
              <a:alpha val="80000"/>
            </a:srgbClr>
          </a:solidFill>
          <a:ln w="9525">
            <a:solidFill>
              <a:srgbClr val="2C74B3">
                <a:alpha val="60000"/>
              </a:srgbClr>
            </a:solidFill>
            <a:prstDash val="solid"/>
          </a:ln>
        </p:spPr>
      </p:sp>
      <p:sp>
        <p:nvSpPr>
          <p:cNvPr id="11" name="Shape 8"/>
          <p:cNvSpPr/>
          <p:nvPr/>
        </p:nvSpPr>
        <p:spPr>
          <a:xfrm>
            <a:off x="4736592" y="2039112"/>
            <a:ext cx="685800" cy="685800"/>
          </a:xfrm>
          <a:prstGeom prst="ellipse">
            <a:avLst/>
          </a:prstGeom>
          <a:solidFill>
            <a:srgbClr val="205295"/>
          </a:solidFill>
          <a:ln/>
        </p:spPr>
      </p:sp>
      <p:pic>
        <p:nvPicPr>
          <p:cNvPr id="12" name="Image 1" descr="/home/claude/icons/doctor.png">    </p:cNvPr>
          <p:cNvPicPr>
            <a:picLocks noChangeAspect="1"/>
          </p:cNvPicPr>
          <p:nvPr/>
        </p:nvPicPr>
        <p:blipFill>
          <a:blip r:embed="rId2"/>
          <a:stretch>
            <a:fillRect/>
          </a:stretch>
        </p:blipFill>
        <p:spPr>
          <a:xfrm>
            <a:off x="4890897" y="2193417"/>
            <a:ext cx="377190" cy="377190"/>
          </a:xfrm>
          <a:prstGeom prst="rect">
            <a:avLst/>
          </a:prstGeom>
        </p:spPr>
      </p:pic>
      <p:sp>
        <p:nvSpPr>
          <p:cNvPr id="13" name="Text 9"/>
          <p:cNvSpPr/>
          <p:nvPr/>
        </p:nvSpPr>
        <p:spPr>
          <a:xfrm>
            <a:off x="4736592" y="2788920"/>
            <a:ext cx="3008376"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Doctor Search</a:t>
            </a:r>
            <a:endParaRPr lang="en-US" sz="1450" dirty="0"/>
          </a:p>
        </p:txBody>
      </p:sp>
      <p:sp>
        <p:nvSpPr>
          <p:cNvPr id="14" name="Text 10"/>
          <p:cNvSpPr/>
          <p:nvPr/>
        </p:nvSpPr>
        <p:spPr>
          <a:xfrm>
            <a:off x="4736592" y="3108960"/>
            <a:ext cx="3008376" cy="548640"/>
          </a:xfrm>
          <a:prstGeom prst="rect">
            <a:avLst/>
          </a:prstGeom>
          <a:noFill/>
          <a:ln/>
        </p:spPr>
        <p:txBody>
          <a:bodyPr wrap="square" lIns="0" tIns="0" rIns="0" bIns="0" rtlCol="0" anchor="ctr"/>
          <a:lstStyle/>
          <a:p>
            <a:pPr indent="0" marL="0">
              <a:lnSpc>
                <a:spcPts val="1300"/>
              </a:lnSpc>
              <a:buNone/>
            </a:pPr>
            <a:r>
              <a:rPr lang="en-US" sz="1050" dirty="0">
                <a:solidFill>
                  <a:srgbClr val="BBD4EE"/>
                </a:solidFill>
                <a:latin typeface="Calibri" pitchFamily="34" charset="0"/>
                <a:ea typeface="Calibri" pitchFamily="34" charset="-122"/>
                <a:cs typeface="Calibri" pitchFamily="34" charset="-120"/>
              </a:rPr>
              <a:t>Easily find a doctor by their specialty and free time</a:t>
            </a:r>
            <a:endParaRPr lang="en-US" sz="1050" dirty="0"/>
          </a:p>
        </p:txBody>
      </p:sp>
      <p:sp>
        <p:nvSpPr>
          <p:cNvPr id="15" name="Shape 11"/>
          <p:cNvSpPr/>
          <p:nvPr/>
        </p:nvSpPr>
        <p:spPr>
          <a:xfrm>
            <a:off x="8321040" y="1783080"/>
            <a:ext cx="3520440" cy="1965960"/>
          </a:xfrm>
          <a:prstGeom prst="roundRect">
            <a:avLst>
              <a:gd name="adj" fmla="val 4651"/>
            </a:avLst>
          </a:prstGeom>
          <a:solidFill>
            <a:srgbClr val="144272">
              <a:alpha val="80000"/>
            </a:srgbClr>
          </a:solidFill>
          <a:ln w="9525">
            <a:solidFill>
              <a:srgbClr val="2C74B3">
                <a:alpha val="60000"/>
              </a:srgbClr>
            </a:solidFill>
            <a:prstDash val="solid"/>
          </a:ln>
        </p:spPr>
      </p:sp>
      <p:sp>
        <p:nvSpPr>
          <p:cNvPr id="16" name="Shape 12"/>
          <p:cNvSpPr/>
          <p:nvPr/>
        </p:nvSpPr>
        <p:spPr>
          <a:xfrm>
            <a:off x="8577072" y="2039112"/>
            <a:ext cx="685800" cy="685800"/>
          </a:xfrm>
          <a:prstGeom prst="ellipse">
            <a:avLst/>
          </a:prstGeom>
          <a:solidFill>
            <a:srgbClr val="205295"/>
          </a:solidFill>
          <a:ln/>
        </p:spPr>
      </p:sp>
      <p:pic>
        <p:nvPicPr>
          <p:cNvPr id="17" name="Image 2" descr="/home/claude/icons/calendar.png">    </p:cNvPr>
          <p:cNvPicPr>
            <a:picLocks noChangeAspect="1"/>
          </p:cNvPicPr>
          <p:nvPr/>
        </p:nvPicPr>
        <p:blipFill>
          <a:blip r:embed="rId3"/>
          <a:stretch>
            <a:fillRect/>
          </a:stretch>
        </p:blipFill>
        <p:spPr>
          <a:xfrm>
            <a:off x="8731377" y="2193417"/>
            <a:ext cx="377190" cy="377190"/>
          </a:xfrm>
          <a:prstGeom prst="rect">
            <a:avLst/>
          </a:prstGeom>
        </p:spPr>
      </p:pic>
      <p:sp>
        <p:nvSpPr>
          <p:cNvPr id="18" name="Text 13"/>
          <p:cNvSpPr/>
          <p:nvPr/>
        </p:nvSpPr>
        <p:spPr>
          <a:xfrm>
            <a:off x="8577072" y="2788920"/>
            <a:ext cx="3008376"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Instant Booking</a:t>
            </a:r>
            <a:endParaRPr lang="en-US" sz="1450" dirty="0"/>
          </a:p>
        </p:txBody>
      </p:sp>
      <p:sp>
        <p:nvSpPr>
          <p:cNvPr id="19" name="Text 14"/>
          <p:cNvSpPr/>
          <p:nvPr/>
        </p:nvSpPr>
        <p:spPr>
          <a:xfrm>
            <a:off x="8577072" y="3108960"/>
            <a:ext cx="3008376" cy="548640"/>
          </a:xfrm>
          <a:prstGeom prst="rect">
            <a:avLst/>
          </a:prstGeom>
          <a:noFill/>
          <a:ln/>
        </p:spPr>
        <p:txBody>
          <a:bodyPr wrap="square" lIns="0" tIns="0" rIns="0" bIns="0" rtlCol="0" anchor="ctr"/>
          <a:lstStyle/>
          <a:p>
            <a:pPr indent="0" marL="0">
              <a:lnSpc>
                <a:spcPts val="1300"/>
              </a:lnSpc>
              <a:buNone/>
            </a:pPr>
            <a:r>
              <a:rPr lang="en-US" sz="1050" dirty="0">
                <a:solidFill>
                  <a:srgbClr val="BBD4EE"/>
                </a:solidFill>
                <a:latin typeface="Calibri" pitchFamily="34" charset="0"/>
                <a:ea typeface="Calibri" pitchFamily="34" charset="-122"/>
                <a:cs typeface="Calibri" pitchFamily="34" charset="-120"/>
              </a:rPr>
              <a:t>Book a slot in one click — no waiting, no clashes</a:t>
            </a:r>
            <a:endParaRPr lang="en-US" sz="1050" dirty="0"/>
          </a:p>
        </p:txBody>
      </p:sp>
      <p:sp>
        <p:nvSpPr>
          <p:cNvPr id="20" name="Shape 15"/>
          <p:cNvSpPr/>
          <p:nvPr/>
        </p:nvSpPr>
        <p:spPr>
          <a:xfrm>
            <a:off x="640080" y="4069080"/>
            <a:ext cx="3520440" cy="1965960"/>
          </a:xfrm>
          <a:prstGeom prst="roundRect">
            <a:avLst>
              <a:gd name="adj" fmla="val 4651"/>
            </a:avLst>
          </a:prstGeom>
          <a:solidFill>
            <a:srgbClr val="144272">
              <a:alpha val="80000"/>
            </a:srgbClr>
          </a:solidFill>
          <a:ln w="9525">
            <a:solidFill>
              <a:srgbClr val="2C74B3">
                <a:alpha val="60000"/>
              </a:srgbClr>
            </a:solidFill>
            <a:prstDash val="solid"/>
          </a:ln>
        </p:spPr>
      </p:sp>
      <p:sp>
        <p:nvSpPr>
          <p:cNvPr id="21" name="Shape 16"/>
          <p:cNvSpPr/>
          <p:nvPr/>
        </p:nvSpPr>
        <p:spPr>
          <a:xfrm>
            <a:off x="896112" y="4325112"/>
            <a:ext cx="685800" cy="685800"/>
          </a:xfrm>
          <a:prstGeom prst="ellipse">
            <a:avLst/>
          </a:prstGeom>
          <a:solidFill>
            <a:srgbClr val="205295"/>
          </a:solidFill>
          <a:ln/>
        </p:spPr>
      </p:sp>
      <p:pic>
        <p:nvPicPr>
          <p:cNvPr id="22" name="Image 3" descr="/home/claude/icons/cloud.png">    </p:cNvPr>
          <p:cNvPicPr>
            <a:picLocks noChangeAspect="1"/>
          </p:cNvPicPr>
          <p:nvPr/>
        </p:nvPicPr>
        <p:blipFill>
          <a:blip r:embed="rId4"/>
          <a:stretch>
            <a:fillRect/>
          </a:stretch>
        </p:blipFill>
        <p:spPr>
          <a:xfrm>
            <a:off x="1050417" y="4479417"/>
            <a:ext cx="377190" cy="377190"/>
          </a:xfrm>
          <a:prstGeom prst="rect">
            <a:avLst/>
          </a:prstGeom>
        </p:spPr>
      </p:pic>
      <p:sp>
        <p:nvSpPr>
          <p:cNvPr id="23" name="Text 17"/>
          <p:cNvSpPr/>
          <p:nvPr/>
        </p:nvSpPr>
        <p:spPr>
          <a:xfrm>
            <a:off x="896112" y="5074920"/>
            <a:ext cx="3008376"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Auto Notifications</a:t>
            </a:r>
            <a:endParaRPr lang="en-US" sz="1450" dirty="0"/>
          </a:p>
        </p:txBody>
      </p:sp>
      <p:sp>
        <p:nvSpPr>
          <p:cNvPr id="24" name="Text 18"/>
          <p:cNvSpPr/>
          <p:nvPr/>
        </p:nvSpPr>
        <p:spPr>
          <a:xfrm>
            <a:off x="896112" y="5394960"/>
            <a:ext cx="3008376" cy="548640"/>
          </a:xfrm>
          <a:prstGeom prst="rect">
            <a:avLst/>
          </a:prstGeom>
          <a:noFill/>
          <a:ln/>
        </p:spPr>
        <p:txBody>
          <a:bodyPr wrap="square" lIns="0" tIns="0" rIns="0" bIns="0" rtlCol="0" anchor="ctr"/>
          <a:lstStyle/>
          <a:p>
            <a:pPr indent="0" marL="0">
              <a:lnSpc>
                <a:spcPts val="1300"/>
              </a:lnSpc>
              <a:buNone/>
            </a:pPr>
            <a:r>
              <a:rPr lang="en-US" sz="1050" dirty="0">
                <a:solidFill>
                  <a:srgbClr val="BBD4EE"/>
                </a:solidFill>
                <a:latin typeface="Calibri" pitchFamily="34" charset="0"/>
                <a:ea typeface="Calibri" pitchFamily="34" charset="-122"/>
                <a:cs typeface="Calibri" pitchFamily="34" charset="-120"/>
              </a:rPr>
              <a:t>Get an email / SMS the moment booking is confirmed</a:t>
            </a:r>
            <a:endParaRPr lang="en-US" sz="1050" dirty="0"/>
          </a:p>
        </p:txBody>
      </p:sp>
      <p:sp>
        <p:nvSpPr>
          <p:cNvPr id="25" name="Shape 19"/>
          <p:cNvSpPr/>
          <p:nvPr/>
        </p:nvSpPr>
        <p:spPr>
          <a:xfrm>
            <a:off x="4480560" y="4069080"/>
            <a:ext cx="3520440" cy="1965960"/>
          </a:xfrm>
          <a:prstGeom prst="roundRect">
            <a:avLst>
              <a:gd name="adj" fmla="val 4651"/>
            </a:avLst>
          </a:prstGeom>
          <a:solidFill>
            <a:srgbClr val="144272">
              <a:alpha val="80000"/>
            </a:srgbClr>
          </a:solidFill>
          <a:ln w="9525">
            <a:solidFill>
              <a:srgbClr val="2C74B3">
                <a:alpha val="60000"/>
              </a:srgbClr>
            </a:solidFill>
            <a:prstDash val="solid"/>
          </a:ln>
        </p:spPr>
      </p:sp>
      <p:sp>
        <p:nvSpPr>
          <p:cNvPr id="26" name="Shape 20"/>
          <p:cNvSpPr/>
          <p:nvPr/>
        </p:nvSpPr>
        <p:spPr>
          <a:xfrm>
            <a:off x="4736592" y="4325112"/>
            <a:ext cx="685800" cy="685800"/>
          </a:xfrm>
          <a:prstGeom prst="ellipse">
            <a:avLst/>
          </a:prstGeom>
          <a:solidFill>
            <a:srgbClr val="205295"/>
          </a:solidFill>
          <a:ln/>
        </p:spPr>
      </p:sp>
      <p:pic>
        <p:nvPicPr>
          <p:cNvPr id="27" name="Image 4" descr="/home/claude/icons/stethoscope.png">    </p:cNvPr>
          <p:cNvPicPr>
            <a:picLocks noChangeAspect="1"/>
          </p:cNvPicPr>
          <p:nvPr/>
        </p:nvPicPr>
        <p:blipFill>
          <a:blip r:embed="rId5"/>
          <a:stretch>
            <a:fillRect/>
          </a:stretch>
        </p:blipFill>
        <p:spPr>
          <a:xfrm>
            <a:off x="4890897" y="4479417"/>
            <a:ext cx="377190" cy="377190"/>
          </a:xfrm>
          <a:prstGeom prst="rect">
            <a:avLst/>
          </a:prstGeom>
        </p:spPr>
      </p:pic>
      <p:sp>
        <p:nvSpPr>
          <p:cNvPr id="28" name="Text 21"/>
          <p:cNvSpPr/>
          <p:nvPr/>
        </p:nvSpPr>
        <p:spPr>
          <a:xfrm>
            <a:off x="4736592" y="5074920"/>
            <a:ext cx="3008376"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Health Records</a:t>
            </a:r>
            <a:endParaRPr lang="en-US" sz="1450" dirty="0"/>
          </a:p>
        </p:txBody>
      </p:sp>
      <p:sp>
        <p:nvSpPr>
          <p:cNvPr id="29" name="Text 22"/>
          <p:cNvSpPr/>
          <p:nvPr/>
        </p:nvSpPr>
        <p:spPr>
          <a:xfrm>
            <a:off x="4736592" y="5394960"/>
            <a:ext cx="3008376" cy="548640"/>
          </a:xfrm>
          <a:prstGeom prst="rect">
            <a:avLst/>
          </a:prstGeom>
          <a:noFill/>
          <a:ln/>
        </p:spPr>
        <p:txBody>
          <a:bodyPr wrap="square" lIns="0" tIns="0" rIns="0" bIns="0" rtlCol="0" anchor="ctr"/>
          <a:lstStyle/>
          <a:p>
            <a:pPr indent="0" marL="0">
              <a:lnSpc>
                <a:spcPts val="1300"/>
              </a:lnSpc>
              <a:buNone/>
            </a:pPr>
            <a:r>
              <a:rPr lang="en-US" sz="1050" dirty="0">
                <a:solidFill>
                  <a:srgbClr val="BBD4EE"/>
                </a:solidFill>
                <a:latin typeface="Calibri" pitchFamily="34" charset="0"/>
                <a:ea typeface="Calibri" pitchFamily="34" charset="-122"/>
                <a:cs typeface="Calibri" pitchFamily="34" charset="-120"/>
              </a:rPr>
              <a:t>Past appointments are saved and easy to check later</a:t>
            </a:r>
            <a:endParaRPr lang="en-US" sz="1050" dirty="0"/>
          </a:p>
        </p:txBody>
      </p:sp>
      <p:sp>
        <p:nvSpPr>
          <p:cNvPr id="30" name="Shape 23"/>
          <p:cNvSpPr/>
          <p:nvPr/>
        </p:nvSpPr>
        <p:spPr>
          <a:xfrm>
            <a:off x="8321040" y="4069080"/>
            <a:ext cx="3520440" cy="1965960"/>
          </a:xfrm>
          <a:prstGeom prst="roundRect">
            <a:avLst>
              <a:gd name="adj" fmla="val 4651"/>
            </a:avLst>
          </a:prstGeom>
          <a:solidFill>
            <a:srgbClr val="144272">
              <a:alpha val="80000"/>
            </a:srgbClr>
          </a:solidFill>
          <a:ln w="9525">
            <a:solidFill>
              <a:srgbClr val="2C74B3">
                <a:alpha val="60000"/>
              </a:srgbClr>
            </a:solidFill>
            <a:prstDash val="solid"/>
          </a:ln>
        </p:spPr>
      </p:sp>
      <p:sp>
        <p:nvSpPr>
          <p:cNvPr id="31" name="Shape 24"/>
          <p:cNvSpPr/>
          <p:nvPr/>
        </p:nvSpPr>
        <p:spPr>
          <a:xfrm>
            <a:off x="8577072" y="4325112"/>
            <a:ext cx="685800" cy="685800"/>
          </a:xfrm>
          <a:prstGeom prst="ellipse">
            <a:avLst/>
          </a:prstGeom>
          <a:solidFill>
            <a:srgbClr val="205295"/>
          </a:solidFill>
          <a:ln/>
        </p:spPr>
      </p:sp>
      <p:pic>
        <p:nvPicPr>
          <p:cNvPr id="32" name="Image 5" descr="/home/claude/icons/aws.png">    </p:cNvPr>
          <p:cNvPicPr>
            <a:picLocks noChangeAspect="1"/>
          </p:cNvPicPr>
          <p:nvPr/>
        </p:nvPicPr>
        <p:blipFill>
          <a:blip r:embed="rId6"/>
          <a:stretch>
            <a:fillRect/>
          </a:stretch>
        </p:blipFill>
        <p:spPr>
          <a:xfrm>
            <a:off x="8731377" y="4479417"/>
            <a:ext cx="377190" cy="377190"/>
          </a:xfrm>
          <a:prstGeom prst="rect">
            <a:avLst/>
          </a:prstGeom>
        </p:spPr>
      </p:pic>
      <p:sp>
        <p:nvSpPr>
          <p:cNvPr id="33" name="Text 25"/>
          <p:cNvSpPr/>
          <p:nvPr/>
        </p:nvSpPr>
        <p:spPr>
          <a:xfrm>
            <a:off x="8577072" y="5074920"/>
            <a:ext cx="3008376"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Runs on Cloud</a:t>
            </a:r>
            <a:endParaRPr lang="en-US" sz="1450" dirty="0"/>
          </a:p>
        </p:txBody>
      </p:sp>
      <p:sp>
        <p:nvSpPr>
          <p:cNvPr id="34" name="Text 26"/>
          <p:cNvSpPr/>
          <p:nvPr/>
        </p:nvSpPr>
        <p:spPr>
          <a:xfrm>
            <a:off x="8577072" y="5394960"/>
            <a:ext cx="3008376" cy="548640"/>
          </a:xfrm>
          <a:prstGeom prst="rect">
            <a:avLst/>
          </a:prstGeom>
          <a:noFill/>
          <a:ln/>
        </p:spPr>
        <p:txBody>
          <a:bodyPr wrap="square" lIns="0" tIns="0" rIns="0" bIns="0" rtlCol="0" anchor="ctr"/>
          <a:lstStyle/>
          <a:p>
            <a:pPr indent="0" marL="0">
              <a:lnSpc>
                <a:spcPts val="1300"/>
              </a:lnSpc>
              <a:buNone/>
            </a:pPr>
            <a:r>
              <a:rPr lang="en-US" sz="1050" dirty="0">
                <a:solidFill>
                  <a:srgbClr val="BBD4EE"/>
                </a:solidFill>
                <a:latin typeface="Calibri" pitchFamily="34" charset="0"/>
                <a:ea typeface="Calibri" pitchFamily="34" charset="-122"/>
                <a:cs typeface="Calibri" pitchFamily="34" charset="-120"/>
              </a:rPr>
              <a:t>Works smoothly for many users, powered by AWS</a:t>
            </a:r>
            <a:endParaRPr lang="en-US" sz="1050" dirty="0"/>
          </a:p>
        </p:txBody>
      </p:sp>
      <p:sp>
        <p:nvSpPr>
          <p:cNvPr id="36" name="Text 27"/>
          <p:cNvSpPr/>
          <p:nvPr/>
        </p:nvSpPr>
        <p:spPr>
          <a:xfrm>
            <a:off x="11612880" y="6446520"/>
            <a:ext cx="457200" cy="274320"/>
          </a:xfrm>
          <a:prstGeom prst="rect">
            <a:avLst/>
          </a:prstGeom>
          <a:noFill/>
          <a:ln/>
        </p:spPr>
        <p:txBody>
          <a:bodyPr wrap="square" rtlCol="0" anchor="ctr"/>
          <a:lstStyle/>
          <a:p>
            <a:pPr algn="r" indent="0" marL="0">
              <a:buNone/>
            </a:pPr>
            <a:r>
              <a:rPr lang="en-US" sz="1100" dirty="0">
                <a:solidFill>
                  <a:srgbClr val="9FB7D8"/>
                </a:solidFill>
                <a:latin typeface="Calibri" pitchFamily="34" charset="0"/>
                <a:ea typeface="Calibri" pitchFamily="34" charset="-122"/>
                <a:cs typeface="Calibri" pitchFamily="34" charset="-120"/>
              </a:rPr>
              <a:t>5</a:t>
            </a:r>
            <a:endParaRPr lang="en-US" sz="1100" dirty="0"/>
          </a:p>
        </p:txBody>
      </p:sp>
      <p:sp>
        <p:nvSpPr>
          <p:cNvPr id="37" name="Text 28"/>
          <p:cNvSpPr/>
          <p:nvPr/>
        </p:nvSpPr>
        <p:spPr>
          <a:xfrm>
            <a:off x="640080" y="6446520"/>
            <a:ext cx="6400800" cy="274320"/>
          </a:xfrm>
          <a:prstGeom prst="rect">
            <a:avLst/>
          </a:prstGeom>
          <a:noFill/>
          <a:ln/>
        </p:spPr>
        <p:txBody>
          <a:bodyPr wrap="square" rtlCol="0" anchor="ctr"/>
          <a:lstStyle/>
          <a:p>
            <a:pPr indent="0" marL="0">
              <a:buNone/>
            </a:pPr>
            <a:r>
              <a:rPr lang="en-US" sz="900" spc="150" kern="0" dirty="0">
                <a:solidFill>
                  <a:srgbClr val="6C8FB5"/>
                </a:solidFill>
                <a:latin typeface="Calibri" pitchFamily="34" charset="0"/>
                <a:ea typeface="Calibri" pitchFamily="34" charset="-122"/>
                <a:cs typeface="Calibri" pitchFamily="34" charset="-120"/>
              </a:rPr>
              <a:t>HEALTHCARE APPOINTMENT BOOKING SYSTEM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C"/>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250" b="1" spc="250" kern="0" dirty="0">
                <a:solidFill>
                  <a:srgbClr val="2C74B3"/>
                </a:solidFill>
                <a:latin typeface="Calibri" pitchFamily="34" charset="0"/>
                <a:ea typeface="Calibri" pitchFamily="34" charset="-122"/>
                <a:cs typeface="Calibri" pitchFamily="34" charset="-120"/>
              </a:rPr>
              <a:t>TECH STACK</a:t>
            </a:r>
            <a:endParaRPr lang="en-US" sz="1250" dirty="0"/>
          </a:p>
        </p:txBody>
      </p:sp>
      <p:sp>
        <p:nvSpPr>
          <p:cNvPr id="3" name="Text 1"/>
          <p:cNvSpPr/>
          <p:nvPr/>
        </p:nvSpPr>
        <p:spPr>
          <a:xfrm>
            <a:off x="640080" y="749808"/>
            <a:ext cx="10515600" cy="731520"/>
          </a:xfrm>
          <a:prstGeom prst="rect">
            <a:avLst/>
          </a:prstGeom>
          <a:noFill/>
          <a:ln/>
        </p:spPr>
        <p:txBody>
          <a:bodyPr wrap="square" lIns="0" tIns="0" rIns="0" bIns="0" rtlCol="0" anchor="ctr"/>
          <a:lstStyle/>
          <a:p>
            <a:pPr indent="0" marL="0">
              <a:buNone/>
            </a:pPr>
            <a:r>
              <a:rPr lang="en-US" sz="3200" b="1" dirty="0">
                <a:solidFill>
                  <a:srgbClr val="0A2647"/>
                </a:solidFill>
                <a:latin typeface="Cambria" pitchFamily="34" charset="0"/>
                <a:ea typeface="Cambria" pitchFamily="34" charset="-122"/>
                <a:cs typeface="Cambria" pitchFamily="34" charset="-120"/>
              </a:rPr>
              <a:t>AWS Services Used</a:t>
            </a:r>
            <a:endParaRPr lang="en-US" sz="3200" dirty="0"/>
          </a:p>
        </p:txBody>
      </p:sp>
      <p:sp>
        <p:nvSpPr>
          <p:cNvPr id="4" name="Shape 2"/>
          <p:cNvSpPr/>
          <p:nvPr/>
        </p:nvSpPr>
        <p:spPr>
          <a:xfrm>
            <a:off x="11475720" y="457200"/>
            <a:ext cx="128016" cy="128016"/>
          </a:xfrm>
          <a:prstGeom prst="ellipse">
            <a:avLst/>
          </a:prstGeom>
          <a:solidFill>
            <a:srgbClr val="5DE0E6"/>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881360" cy="4206240"/>
        </p:xfrm>
        <a:graphic>
          <a:graphicData uri="http://schemas.openxmlformats.org/drawingml/2006/table">
            <a:tbl>
              <a:tblPr/>
              <a:tblGrid>
                <a:gridCol w="2926080"/>
                <a:gridCol w="7955280"/>
              </a:tblGrid>
              <a:tr h="60350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AWS Service</a:t>
                      </a:r>
                      <a:endParaRPr lang="en-US" sz="1200" dirty="0">
                        <a:latin typeface="Calibri" charset="0"/>
                        <a:ea typeface="Calibri" charset="0"/>
                        <a:cs typeface="Calibri" charset="0"/>
                      </a:endParaRPr>
                    </a:p>
                  </a:txBody>
                  <a:tcPr marL="91440" marR="91440" marT="45720" marB="45720" anchor="ctr">
                    <a:lnL w="9525" cap="flat" cmpd="sng" algn="ctr">
                      <a:solidFill>
                        <a:srgbClr val="D6E4F0"/>
                      </a:solidFill>
                      <a:prstDash val="solid"/>
                      <a:round/>
                      <a:headEnd type="none" w="med" len="med"/>
                      <a:tailEnd type="none" w="med" len="med"/>
                    </a:lnL>
                    <a:lnR w="9525" cap="flat" cmpd="sng" algn="ctr">
                      <a:solidFill>
                        <a:srgbClr val="D6E4F0"/>
                      </a:solidFill>
                      <a:prstDash val="solid"/>
                      <a:round/>
                      <a:headEnd type="none" w="med" len="med"/>
                      <a:tailEnd type="none" w="med" len="med"/>
                    </a:lnR>
                    <a:lnT w="9525" cap="flat" cmpd="sng" algn="ctr">
                      <a:solidFill>
                        <a:srgbClr val="D6E4F0"/>
                      </a:solidFill>
                      <a:prstDash val="solid"/>
                      <a:round/>
                      <a:headEnd type="none" w="med" len="med"/>
                      <a:tailEnd type="none" w="med" len="med"/>
                    </a:lnT>
                    <a:lnB w="9525" cap="flat" cmpd="sng" algn="ctr">
                      <a:solidFill>
                        <a:srgbClr val="D6E4F0"/>
                      </a:solidFill>
                      <a:prstDash val="solid"/>
                      <a:round/>
                      <a:headEnd type="none" w="med" len="med"/>
                      <a:tailEnd type="none" w="med" len="med"/>
                    </a:lnB>
                    <a:solidFill>
                      <a:srgbClr val="20529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 (in simple words)</a:t>
                      </a:r>
                      <a:endParaRPr lang="en-US" sz="1200" dirty="0">
                        <a:latin typeface="Calibri" charset="0"/>
                        <a:ea typeface="Calibri" charset="0"/>
                        <a:cs typeface="Calibri" charset="0"/>
                      </a:endParaRPr>
                    </a:p>
                  </a:txBody>
                  <a:tcPr marL="91440" marR="91440" marT="45720" marB="45720" anchor="ctr">
                    <a:lnL w="9525" cap="flat" cmpd="sng" algn="ctr">
                      <a:solidFill>
                        <a:srgbClr val="D6E4F0"/>
                      </a:solidFill>
                      <a:prstDash val="solid"/>
                      <a:round/>
                      <a:headEnd type="none" w="med" len="med"/>
                      <a:tailEnd type="none" w="med" len="med"/>
                    </a:lnL>
                    <a:lnR w="9525" cap="flat" cmpd="sng" algn="ctr">
                      <a:solidFill>
                        <a:srgbClr val="D6E4F0"/>
                      </a:solidFill>
                      <a:prstDash val="solid"/>
                      <a:round/>
                      <a:headEnd type="none" w="med" len="med"/>
                      <a:tailEnd type="none" w="med" len="med"/>
                    </a:lnR>
                    <a:lnT w="9525" cap="flat" cmpd="sng" algn="ctr">
                      <a:solidFill>
                        <a:srgbClr val="D6E4F0"/>
                      </a:solidFill>
                      <a:prstDash val="solid"/>
                      <a:round/>
                      <a:headEnd type="none" w="med" len="med"/>
                      <a:tailEnd type="none" w="med" len="med"/>
                    </a:lnT>
                    <a:lnB w="9525" cap="flat" cmpd="sng" algn="ctr">
                      <a:solidFill>
                        <a:srgbClr val="D6E4F0"/>
                      </a:solidFill>
                      <a:prstDash val="solid"/>
                      <a:round/>
                      <a:headEnd type="none" w="med" len="med"/>
                      <a:tailEnd type="none" w="med" len="med"/>
                    </a:lnB>
                    <a:solidFill>
                      <a:srgbClr val="205295"/>
                    </a:solidFill>
                  </a:tcPr>
                </a:tc>
              </a:tr>
              <a:tr h="603504">
                <a:tc>
                  <a:txBody>
                    <a:bodyPr/>
                    <a:lstStyle/>
                    <a:p>
                      <a:pPr indent="0" marL="0">
                        <a:buNone/>
                      </a:pPr>
                      <a:r>
                        <a:rPr lang="en-US" sz="1300" b="1" dirty="0">
                          <a:solidFill>
                            <a:srgbClr val="0A2647"/>
                          </a:solidFill>
                          <a:latin typeface="Calibri" pitchFamily="34" charset="0"/>
                          <a:ea typeface="Calibri" pitchFamily="34" charset="-122"/>
                          <a:cs typeface="Calibri" pitchFamily="34" charset="-120"/>
                        </a:rPr>
                        <a:t>Cognito</a:t>
                      </a:r>
                      <a:endParaRPr lang="en-US" sz="1300" dirty="0">
                        <a:latin typeface="Calibri" charset="0"/>
                        <a:ea typeface="Calibri" charset="0"/>
                        <a:cs typeface="Calibri" charset="0"/>
                      </a:endParaRPr>
                    </a:p>
                  </a:txBody>
                  <a:tcPr marL="91440" marR="91440" marT="45720" marB="45720" anchor="ctr">
                    <a:lnL w="9525" cap="flat" cmpd="sng" algn="ctr">
                      <a:solidFill>
                        <a:srgbClr val="D6E4F0"/>
                      </a:solidFill>
                      <a:prstDash val="solid"/>
                      <a:round/>
                      <a:headEnd type="none" w="med" len="med"/>
                      <a:tailEnd type="none" w="med" len="med"/>
                    </a:lnL>
                    <a:lnR w="9525" cap="flat" cmpd="sng" algn="ctr">
                      <a:solidFill>
                        <a:srgbClr val="D6E4F0"/>
                      </a:solidFill>
                      <a:prstDash val="solid"/>
                      <a:round/>
                      <a:headEnd type="none" w="med" len="med"/>
                      <a:tailEnd type="none" w="med" len="med"/>
                    </a:lnR>
                    <a:lnT w="9525" cap="flat" cmpd="sng" algn="ctr">
                      <a:solidFill>
                        <a:srgbClr val="D6E4F0"/>
                      </a:solidFill>
                      <a:prstDash val="solid"/>
                      <a:round/>
                      <a:headEnd type="none" w="med" len="med"/>
                      <a:tailEnd type="none" w="med" len="med"/>
                    </a:lnT>
                    <a:lnB w="9525" cap="flat" cmpd="sng" algn="ctr">
                      <a:solidFill>
                        <a:srgbClr val="D6E4F0"/>
                      </a:solidFill>
                      <a:prstDash val="solid"/>
                      <a:round/>
                      <a:headEnd type="none" w="med" len="med"/>
                      <a:tailEnd type="none" w="med" len="med"/>
                    </a:lnB>
                    <a:solidFill>
                      <a:srgbClr val="E9F1FA"/>
                    </a:solidFill>
                  </a:tcPr>
                </a:tc>
                <a:tc>
                  <a:txBody>
                    <a:bodyPr/>
                    <a:lstStyle/>
                    <a:p>
                      <a:pPr indent="0" marL="0">
                        <a:buNone/>
                      </a:pPr>
                      <a:r>
                        <a:rPr lang="en-US" sz="1300" dirty="0">
                          <a:solidFill>
                            <a:srgbClr val="34506E"/>
                          </a:solidFill>
                          <a:latin typeface="Calibri" pitchFamily="34" charset="0"/>
                          <a:ea typeface="Calibri" pitchFamily="34" charset="-122"/>
                          <a:cs typeface="Calibri" pitchFamily="34" charset="-120"/>
                        </a:rPr>
                        <a:t>Checks login — like a security guard for the app</a:t>
                      </a:r>
                      <a:endParaRPr lang="en-US" sz="1300" dirty="0">
                        <a:latin typeface="Calibri" charset="0"/>
                        <a:ea typeface="Calibri" charset="0"/>
                        <a:cs typeface="Calibri" charset="0"/>
                      </a:endParaRPr>
                    </a:p>
                  </a:txBody>
                  <a:tcPr marL="91440" marR="91440" marT="45720" marB="45720" anchor="ctr">
                    <a:lnL w="9525" cap="flat" cmpd="sng" algn="ctr">
                      <a:solidFill>
                        <a:srgbClr val="D6E4F0"/>
                      </a:solidFill>
                      <a:prstDash val="solid"/>
                      <a:round/>
                      <a:headEnd type="none" w="med" len="med"/>
                      <a:tailEnd type="none" w="med" len="med"/>
                    </a:lnL>
                    <a:lnR w="9525" cap="flat" cmpd="sng" algn="ctr">
                      <a:solidFill>
                        <a:srgbClr val="D6E4F0"/>
                      </a:solidFill>
                      <a:prstDash val="solid"/>
                      <a:round/>
                      <a:headEnd type="none" w="med" len="med"/>
                      <a:tailEnd type="none" w="med" len="med"/>
                    </a:lnR>
                    <a:lnT w="9525" cap="flat" cmpd="sng" algn="ctr">
                      <a:solidFill>
                        <a:srgbClr val="D6E4F0"/>
                      </a:solidFill>
                      <a:prstDash val="solid"/>
                      <a:round/>
                      <a:headEnd type="none" w="med" len="med"/>
                      <a:tailEnd type="none" w="med" len="med"/>
                    </a:lnT>
                    <a:lnB w="9525" cap="flat" cmpd="sng" algn="ctr">
                      <a:solidFill>
                        <a:srgbClr val="D6E4F0"/>
                      </a:solidFill>
                      <a:prstDash val="solid"/>
                      <a:round/>
                      <a:headEnd type="none" w="med" len="med"/>
                      <a:tailEnd type="none" w="med" len="med"/>
                    </a:lnB>
                    <a:solidFill>
                      <a:srgbClr val="E9F1FA"/>
                    </a:solidFill>
                  </a:tcPr>
                </a:tc>
              </a:tr>
              <a:tr h="603504">
                <a:tc>
                  <a:txBody>
                    <a:bodyPr/>
                    <a:lstStyle/>
                    <a:p>
                      <a:pPr indent="0" marL="0">
                        <a:buNone/>
                      </a:pPr>
                      <a:r>
                        <a:rPr lang="en-US" sz="1300" b="1" dirty="0">
                          <a:solidFill>
                            <a:srgbClr val="0A2647"/>
                          </a:solidFill>
                          <a:latin typeface="Calibri" pitchFamily="34" charset="0"/>
                          <a:ea typeface="Calibri" pitchFamily="34" charset="-122"/>
                          <a:cs typeface="Calibri" pitchFamily="34" charset="-120"/>
                        </a:rPr>
                        <a:t>API Gateway</a:t>
                      </a:r>
                      <a:endParaRPr lang="en-US" sz="1300" dirty="0">
                        <a:latin typeface="Calibri" charset="0"/>
                        <a:ea typeface="Calibri" charset="0"/>
                        <a:cs typeface="Calibri" charset="0"/>
                      </a:endParaRPr>
                    </a:p>
                  </a:txBody>
                  <a:tcPr marL="91440" marR="91440" marT="45720" marB="45720" anchor="ctr">
                    <a:lnL w="9525" cap="flat" cmpd="sng" algn="ctr">
                      <a:solidFill>
                        <a:srgbClr val="D6E4F0"/>
                      </a:solidFill>
                      <a:prstDash val="solid"/>
                      <a:round/>
                      <a:headEnd type="none" w="med" len="med"/>
                      <a:tailEnd type="none" w="med" len="med"/>
                    </a:lnL>
                    <a:lnR w="9525" cap="flat" cmpd="sng" algn="ctr">
                      <a:solidFill>
                        <a:srgbClr val="D6E4F0"/>
                      </a:solidFill>
                      <a:prstDash val="solid"/>
                      <a:round/>
                      <a:headEnd type="none" w="med" len="med"/>
                      <a:tailEnd type="none" w="med" len="med"/>
                    </a:lnR>
                    <a:lnT w="9525" cap="flat" cmpd="sng" algn="ctr">
                      <a:solidFill>
                        <a:srgbClr val="D6E4F0"/>
                      </a:solidFill>
                      <a:prstDash val="solid"/>
                      <a:round/>
                      <a:headEnd type="none" w="med" len="med"/>
                      <a:tailEnd type="none" w="med" len="med"/>
                    </a:lnT>
                    <a:lnB w="9525"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1300" dirty="0">
                          <a:solidFill>
                            <a:srgbClr val="34506E"/>
                          </a:solidFill>
                          <a:latin typeface="Calibri" pitchFamily="34" charset="0"/>
                          <a:ea typeface="Calibri" pitchFamily="34" charset="-122"/>
                          <a:cs typeface="Calibri" pitchFamily="34" charset="-120"/>
                        </a:rPr>
                        <a:t>The door that connects our website to the backend</a:t>
                      </a:r>
                      <a:endParaRPr lang="en-US" sz="1300" dirty="0">
                        <a:latin typeface="Calibri" charset="0"/>
                        <a:ea typeface="Calibri" charset="0"/>
                        <a:cs typeface="Calibri" charset="0"/>
                      </a:endParaRPr>
                    </a:p>
                  </a:txBody>
                  <a:tcPr marL="91440" marR="91440" marT="45720" marB="45720" anchor="ctr">
                    <a:lnL w="9525" cap="flat" cmpd="sng" algn="ctr">
                      <a:solidFill>
                        <a:srgbClr val="D6E4F0"/>
                      </a:solidFill>
                      <a:prstDash val="solid"/>
                      <a:round/>
                      <a:headEnd type="none" w="med" len="med"/>
                      <a:tailEnd type="none" w="med" len="med"/>
                    </a:lnL>
                    <a:lnR w="9525" cap="flat" cmpd="sng" algn="ctr">
                      <a:solidFill>
                        <a:srgbClr val="D6E4F0"/>
                      </a:solidFill>
                      <a:prstDash val="solid"/>
                      <a:round/>
                      <a:headEnd type="none" w="med" len="med"/>
                      <a:tailEnd type="none" w="med" len="med"/>
                    </a:lnR>
                    <a:lnT w="9525" cap="flat" cmpd="sng" algn="ctr">
                      <a:solidFill>
                        <a:srgbClr val="D6E4F0"/>
                      </a:solidFill>
                      <a:prstDash val="solid"/>
                      <a:round/>
                      <a:headEnd type="none" w="med" len="med"/>
                      <a:tailEnd type="none" w="med" len="med"/>
                    </a:lnT>
                    <a:lnB w="9525" cap="flat" cmpd="sng" algn="ctr">
                      <a:solidFill>
                        <a:srgbClr val="D6E4F0"/>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0A2647"/>
                          </a:solidFill>
                          <a:latin typeface="Calibri" pitchFamily="34" charset="0"/>
                          <a:ea typeface="Calibri" pitchFamily="34" charset="-122"/>
                          <a:cs typeface="Calibri" pitchFamily="34" charset="-120"/>
                        </a:rPr>
                        <a:t>Lambda</a:t>
                      </a:r>
                      <a:endParaRPr lang="en-US" sz="1300" dirty="0">
                        <a:latin typeface="Calibri" charset="0"/>
                        <a:ea typeface="Calibri" charset="0"/>
                        <a:cs typeface="Calibri" charset="0"/>
                      </a:endParaRPr>
                    </a:p>
                  </a:txBody>
                  <a:tcPr marL="91440" marR="91440" marT="45720" marB="45720" anchor="ctr">
                    <a:lnL w="9525" cap="flat" cmpd="sng" algn="ctr">
                      <a:solidFill>
                        <a:srgbClr val="D6E4F0"/>
                      </a:solidFill>
                      <a:prstDash val="solid"/>
                      <a:round/>
                      <a:headEnd type="none" w="med" len="med"/>
                      <a:tailEnd type="none" w="med" len="med"/>
                    </a:lnL>
                    <a:lnR w="9525" cap="flat" cmpd="sng" algn="ctr">
                      <a:solidFill>
                        <a:srgbClr val="D6E4F0"/>
                      </a:solidFill>
                      <a:prstDash val="solid"/>
                      <a:round/>
                      <a:headEnd type="none" w="med" len="med"/>
                      <a:tailEnd type="none" w="med" len="med"/>
                    </a:lnR>
                    <a:lnT w="9525" cap="flat" cmpd="sng" algn="ctr">
                      <a:solidFill>
                        <a:srgbClr val="D6E4F0"/>
                      </a:solidFill>
                      <a:prstDash val="solid"/>
                      <a:round/>
                      <a:headEnd type="none" w="med" len="med"/>
                      <a:tailEnd type="none" w="med" len="med"/>
                    </a:lnT>
                    <a:lnB w="9525" cap="flat" cmpd="sng" algn="ctr">
                      <a:solidFill>
                        <a:srgbClr val="D6E4F0"/>
                      </a:solidFill>
                      <a:prstDash val="solid"/>
                      <a:round/>
                      <a:headEnd type="none" w="med" len="med"/>
                      <a:tailEnd type="none" w="med" len="med"/>
                    </a:lnB>
                    <a:solidFill>
                      <a:srgbClr val="E9F1FA"/>
                    </a:solidFill>
                  </a:tcPr>
                </a:tc>
                <a:tc>
                  <a:txBody>
                    <a:bodyPr/>
                    <a:lstStyle/>
                    <a:p>
                      <a:pPr indent="0" marL="0">
                        <a:buNone/>
                      </a:pPr>
                      <a:r>
                        <a:rPr lang="en-US" sz="1300" dirty="0">
                          <a:solidFill>
                            <a:srgbClr val="34506E"/>
                          </a:solidFill>
                          <a:latin typeface="Calibri" pitchFamily="34" charset="0"/>
                          <a:ea typeface="Calibri" pitchFamily="34" charset="-122"/>
                          <a:cs typeface="Calibri" pitchFamily="34" charset="-120"/>
                        </a:rPr>
                        <a:t>Runs our code — books the appointment, no server needed</a:t>
                      </a:r>
                      <a:endParaRPr lang="en-US" sz="1300" dirty="0">
                        <a:latin typeface="Calibri" charset="0"/>
                        <a:ea typeface="Calibri" charset="0"/>
                        <a:cs typeface="Calibri" charset="0"/>
                      </a:endParaRPr>
                    </a:p>
                  </a:txBody>
                  <a:tcPr marL="91440" marR="91440" marT="45720" marB="45720" anchor="ctr">
                    <a:lnL w="9525" cap="flat" cmpd="sng" algn="ctr">
                      <a:solidFill>
                        <a:srgbClr val="D6E4F0"/>
                      </a:solidFill>
                      <a:prstDash val="solid"/>
                      <a:round/>
                      <a:headEnd type="none" w="med" len="med"/>
                      <a:tailEnd type="none" w="med" len="med"/>
                    </a:lnL>
                    <a:lnR w="9525" cap="flat" cmpd="sng" algn="ctr">
                      <a:solidFill>
                        <a:srgbClr val="D6E4F0"/>
                      </a:solidFill>
                      <a:prstDash val="solid"/>
                      <a:round/>
                      <a:headEnd type="none" w="med" len="med"/>
                      <a:tailEnd type="none" w="med" len="med"/>
                    </a:lnR>
                    <a:lnT w="9525" cap="flat" cmpd="sng" algn="ctr">
                      <a:solidFill>
                        <a:srgbClr val="D6E4F0"/>
                      </a:solidFill>
                      <a:prstDash val="solid"/>
                      <a:round/>
                      <a:headEnd type="none" w="med" len="med"/>
                      <a:tailEnd type="none" w="med" len="med"/>
                    </a:lnT>
                    <a:lnB w="9525" cap="flat" cmpd="sng" algn="ctr">
                      <a:solidFill>
                        <a:srgbClr val="D6E4F0"/>
                      </a:solidFill>
                      <a:prstDash val="solid"/>
                      <a:round/>
                      <a:headEnd type="none" w="med" len="med"/>
                      <a:tailEnd type="none" w="med" len="med"/>
                    </a:lnB>
                    <a:solidFill>
                      <a:srgbClr val="E9F1FA"/>
                    </a:solidFill>
                  </a:tcPr>
                </a:tc>
              </a:tr>
              <a:tr h="603504">
                <a:tc>
                  <a:txBody>
                    <a:bodyPr/>
                    <a:lstStyle/>
                    <a:p>
                      <a:pPr indent="0" marL="0">
                        <a:buNone/>
                      </a:pPr>
                      <a:r>
                        <a:rPr lang="en-US" sz="1300" b="1" dirty="0">
                          <a:solidFill>
                            <a:srgbClr val="0A2647"/>
                          </a:solidFill>
                          <a:latin typeface="Calibri" pitchFamily="34" charset="0"/>
                          <a:ea typeface="Calibri" pitchFamily="34" charset="-122"/>
                          <a:cs typeface="Calibri" pitchFamily="34" charset="-120"/>
                        </a:rPr>
                        <a:t>DynamoDB</a:t>
                      </a:r>
                      <a:endParaRPr lang="en-US" sz="1300" dirty="0">
                        <a:latin typeface="Calibri" charset="0"/>
                        <a:ea typeface="Calibri" charset="0"/>
                        <a:cs typeface="Calibri" charset="0"/>
                      </a:endParaRPr>
                    </a:p>
                  </a:txBody>
                  <a:tcPr marL="91440" marR="91440" marT="45720" marB="45720" anchor="ctr">
                    <a:lnL w="9525" cap="flat" cmpd="sng" algn="ctr">
                      <a:solidFill>
                        <a:srgbClr val="D6E4F0"/>
                      </a:solidFill>
                      <a:prstDash val="solid"/>
                      <a:round/>
                      <a:headEnd type="none" w="med" len="med"/>
                      <a:tailEnd type="none" w="med" len="med"/>
                    </a:lnL>
                    <a:lnR w="9525" cap="flat" cmpd="sng" algn="ctr">
                      <a:solidFill>
                        <a:srgbClr val="D6E4F0"/>
                      </a:solidFill>
                      <a:prstDash val="solid"/>
                      <a:round/>
                      <a:headEnd type="none" w="med" len="med"/>
                      <a:tailEnd type="none" w="med" len="med"/>
                    </a:lnR>
                    <a:lnT w="9525" cap="flat" cmpd="sng" algn="ctr">
                      <a:solidFill>
                        <a:srgbClr val="D6E4F0"/>
                      </a:solidFill>
                      <a:prstDash val="solid"/>
                      <a:round/>
                      <a:headEnd type="none" w="med" len="med"/>
                      <a:tailEnd type="none" w="med" len="med"/>
                    </a:lnT>
                    <a:lnB w="9525"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1300" dirty="0">
                          <a:solidFill>
                            <a:srgbClr val="34506E"/>
                          </a:solidFill>
                          <a:latin typeface="Calibri" pitchFamily="34" charset="0"/>
                          <a:ea typeface="Calibri" pitchFamily="34" charset="-122"/>
                          <a:cs typeface="Calibri" pitchFamily="34" charset="-120"/>
                        </a:rPr>
                        <a:t>The database — stores all patient &amp; appointment details</a:t>
                      </a:r>
                      <a:endParaRPr lang="en-US" sz="1300" dirty="0">
                        <a:latin typeface="Calibri" charset="0"/>
                        <a:ea typeface="Calibri" charset="0"/>
                        <a:cs typeface="Calibri" charset="0"/>
                      </a:endParaRPr>
                    </a:p>
                  </a:txBody>
                  <a:tcPr marL="91440" marR="91440" marT="45720" marB="45720" anchor="ctr">
                    <a:lnL w="9525" cap="flat" cmpd="sng" algn="ctr">
                      <a:solidFill>
                        <a:srgbClr val="D6E4F0"/>
                      </a:solidFill>
                      <a:prstDash val="solid"/>
                      <a:round/>
                      <a:headEnd type="none" w="med" len="med"/>
                      <a:tailEnd type="none" w="med" len="med"/>
                    </a:lnL>
                    <a:lnR w="9525" cap="flat" cmpd="sng" algn="ctr">
                      <a:solidFill>
                        <a:srgbClr val="D6E4F0"/>
                      </a:solidFill>
                      <a:prstDash val="solid"/>
                      <a:round/>
                      <a:headEnd type="none" w="med" len="med"/>
                      <a:tailEnd type="none" w="med" len="med"/>
                    </a:lnR>
                    <a:lnT w="9525" cap="flat" cmpd="sng" algn="ctr">
                      <a:solidFill>
                        <a:srgbClr val="D6E4F0"/>
                      </a:solidFill>
                      <a:prstDash val="solid"/>
                      <a:round/>
                      <a:headEnd type="none" w="med" len="med"/>
                      <a:tailEnd type="none" w="med" len="med"/>
                    </a:lnT>
                    <a:lnB w="9525" cap="flat" cmpd="sng" algn="ctr">
                      <a:solidFill>
                        <a:srgbClr val="D6E4F0"/>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0A2647"/>
                          </a:solidFill>
                          <a:latin typeface="Calibri" pitchFamily="34" charset="0"/>
                          <a:ea typeface="Calibri" pitchFamily="34" charset="-122"/>
                          <a:cs typeface="Calibri" pitchFamily="34" charset="-120"/>
                        </a:rPr>
                        <a:t>S3</a:t>
                      </a:r>
                      <a:endParaRPr lang="en-US" sz="1300" dirty="0">
                        <a:latin typeface="Calibri" charset="0"/>
                        <a:ea typeface="Calibri" charset="0"/>
                        <a:cs typeface="Calibri" charset="0"/>
                      </a:endParaRPr>
                    </a:p>
                  </a:txBody>
                  <a:tcPr marL="91440" marR="91440" marT="45720" marB="45720" anchor="ctr">
                    <a:lnL w="9525" cap="flat" cmpd="sng" algn="ctr">
                      <a:solidFill>
                        <a:srgbClr val="D6E4F0"/>
                      </a:solidFill>
                      <a:prstDash val="solid"/>
                      <a:round/>
                      <a:headEnd type="none" w="med" len="med"/>
                      <a:tailEnd type="none" w="med" len="med"/>
                    </a:lnL>
                    <a:lnR w="9525" cap="flat" cmpd="sng" algn="ctr">
                      <a:solidFill>
                        <a:srgbClr val="D6E4F0"/>
                      </a:solidFill>
                      <a:prstDash val="solid"/>
                      <a:round/>
                      <a:headEnd type="none" w="med" len="med"/>
                      <a:tailEnd type="none" w="med" len="med"/>
                    </a:lnR>
                    <a:lnT w="9525" cap="flat" cmpd="sng" algn="ctr">
                      <a:solidFill>
                        <a:srgbClr val="D6E4F0"/>
                      </a:solidFill>
                      <a:prstDash val="solid"/>
                      <a:round/>
                      <a:headEnd type="none" w="med" len="med"/>
                      <a:tailEnd type="none" w="med" len="med"/>
                    </a:lnT>
                    <a:lnB w="9525" cap="flat" cmpd="sng" algn="ctr">
                      <a:solidFill>
                        <a:srgbClr val="D6E4F0"/>
                      </a:solidFill>
                      <a:prstDash val="solid"/>
                      <a:round/>
                      <a:headEnd type="none" w="med" len="med"/>
                      <a:tailEnd type="none" w="med" len="med"/>
                    </a:lnB>
                    <a:solidFill>
                      <a:srgbClr val="E9F1FA"/>
                    </a:solidFill>
                  </a:tcPr>
                </a:tc>
                <a:tc>
                  <a:txBody>
                    <a:bodyPr/>
                    <a:lstStyle/>
                    <a:p>
                      <a:pPr indent="0" marL="0">
                        <a:buNone/>
                      </a:pPr>
                      <a:r>
                        <a:rPr lang="en-US" sz="1300" dirty="0">
                          <a:solidFill>
                            <a:srgbClr val="34506E"/>
                          </a:solidFill>
                          <a:latin typeface="Calibri" pitchFamily="34" charset="0"/>
                          <a:ea typeface="Calibri" pitchFamily="34" charset="-122"/>
                          <a:cs typeface="Calibri" pitchFamily="34" charset="-120"/>
                        </a:rPr>
                        <a:t>Cloud storage — keeps documents and profile photos</a:t>
                      </a:r>
                      <a:endParaRPr lang="en-US" sz="1300" dirty="0">
                        <a:latin typeface="Calibri" charset="0"/>
                        <a:ea typeface="Calibri" charset="0"/>
                        <a:cs typeface="Calibri" charset="0"/>
                      </a:endParaRPr>
                    </a:p>
                  </a:txBody>
                  <a:tcPr marL="91440" marR="91440" marT="45720" marB="45720" anchor="ctr">
                    <a:lnL w="9525" cap="flat" cmpd="sng" algn="ctr">
                      <a:solidFill>
                        <a:srgbClr val="D6E4F0"/>
                      </a:solidFill>
                      <a:prstDash val="solid"/>
                      <a:round/>
                      <a:headEnd type="none" w="med" len="med"/>
                      <a:tailEnd type="none" w="med" len="med"/>
                    </a:lnL>
                    <a:lnR w="9525" cap="flat" cmpd="sng" algn="ctr">
                      <a:solidFill>
                        <a:srgbClr val="D6E4F0"/>
                      </a:solidFill>
                      <a:prstDash val="solid"/>
                      <a:round/>
                      <a:headEnd type="none" w="med" len="med"/>
                      <a:tailEnd type="none" w="med" len="med"/>
                    </a:lnR>
                    <a:lnT w="9525" cap="flat" cmpd="sng" algn="ctr">
                      <a:solidFill>
                        <a:srgbClr val="D6E4F0"/>
                      </a:solidFill>
                      <a:prstDash val="solid"/>
                      <a:round/>
                      <a:headEnd type="none" w="med" len="med"/>
                      <a:tailEnd type="none" w="med" len="med"/>
                    </a:lnT>
                    <a:lnB w="9525" cap="flat" cmpd="sng" algn="ctr">
                      <a:solidFill>
                        <a:srgbClr val="D6E4F0"/>
                      </a:solidFill>
                      <a:prstDash val="solid"/>
                      <a:round/>
                      <a:headEnd type="none" w="med" len="med"/>
                      <a:tailEnd type="none" w="med" len="med"/>
                    </a:lnB>
                    <a:solidFill>
                      <a:srgbClr val="E9F1FA"/>
                    </a:solidFill>
                  </a:tcPr>
                </a:tc>
              </a:tr>
              <a:tr h="603504">
                <a:tc>
                  <a:txBody>
                    <a:bodyPr/>
                    <a:lstStyle/>
                    <a:p>
                      <a:pPr indent="0" marL="0">
                        <a:buNone/>
                      </a:pPr>
                      <a:r>
                        <a:rPr lang="en-US" sz="1300" b="1" dirty="0">
                          <a:solidFill>
                            <a:srgbClr val="0A2647"/>
                          </a:solidFill>
                          <a:latin typeface="Calibri" pitchFamily="34" charset="0"/>
                          <a:ea typeface="Calibri" pitchFamily="34" charset="-122"/>
                          <a:cs typeface="Calibri" pitchFamily="34" charset="-120"/>
                        </a:rPr>
                        <a:t>SES / SNS</a:t>
                      </a:r>
                      <a:endParaRPr lang="en-US" sz="1300" dirty="0">
                        <a:latin typeface="Calibri" charset="0"/>
                        <a:ea typeface="Calibri" charset="0"/>
                        <a:cs typeface="Calibri" charset="0"/>
                      </a:endParaRPr>
                    </a:p>
                  </a:txBody>
                  <a:tcPr marL="91440" marR="91440" marT="45720" marB="45720" anchor="ctr">
                    <a:lnL w="9525" cap="flat" cmpd="sng" algn="ctr">
                      <a:solidFill>
                        <a:srgbClr val="D6E4F0"/>
                      </a:solidFill>
                      <a:prstDash val="solid"/>
                      <a:round/>
                      <a:headEnd type="none" w="med" len="med"/>
                      <a:tailEnd type="none" w="med" len="med"/>
                    </a:lnL>
                    <a:lnR w="9525" cap="flat" cmpd="sng" algn="ctr">
                      <a:solidFill>
                        <a:srgbClr val="D6E4F0"/>
                      </a:solidFill>
                      <a:prstDash val="solid"/>
                      <a:round/>
                      <a:headEnd type="none" w="med" len="med"/>
                      <a:tailEnd type="none" w="med" len="med"/>
                    </a:lnR>
                    <a:lnT w="9525" cap="flat" cmpd="sng" algn="ctr">
                      <a:solidFill>
                        <a:srgbClr val="D6E4F0"/>
                      </a:solidFill>
                      <a:prstDash val="solid"/>
                      <a:round/>
                      <a:headEnd type="none" w="med" len="med"/>
                      <a:tailEnd type="none" w="med" len="med"/>
                    </a:lnT>
                    <a:lnB w="9525" cap="flat" cmpd="sng" algn="ctr">
                      <a:solidFill>
                        <a:srgbClr val="D6E4F0"/>
                      </a:solidFill>
                      <a:prstDash val="solid"/>
                      <a:round/>
                      <a:headEnd type="none" w="med" len="med"/>
                      <a:tailEnd type="none" w="med" len="med"/>
                    </a:lnB>
                    <a:solidFill>
                      <a:srgbClr val="FFFFFF"/>
                    </a:solidFill>
                  </a:tcPr>
                </a:tc>
                <a:tc>
                  <a:txBody>
                    <a:bodyPr/>
                    <a:lstStyle/>
                    <a:p>
                      <a:pPr indent="0" marL="0">
                        <a:buNone/>
                      </a:pPr>
                      <a:r>
                        <a:rPr lang="en-US" sz="1300" dirty="0">
                          <a:solidFill>
                            <a:srgbClr val="34506E"/>
                          </a:solidFill>
                          <a:latin typeface="Calibri" pitchFamily="34" charset="0"/>
                          <a:ea typeface="Calibri" pitchFamily="34" charset="-122"/>
                          <a:cs typeface="Calibri" pitchFamily="34" charset="-120"/>
                        </a:rPr>
                        <a:t>Sends the confirmation email and SMS to the patient</a:t>
                      </a:r>
                      <a:endParaRPr lang="en-US" sz="1300" dirty="0">
                        <a:latin typeface="Calibri" charset="0"/>
                        <a:ea typeface="Calibri" charset="0"/>
                        <a:cs typeface="Calibri" charset="0"/>
                      </a:endParaRPr>
                    </a:p>
                  </a:txBody>
                  <a:tcPr marL="91440" marR="91440" marT="45720" marB="45720" anchor="ctr">
                    <a:lnL w="9525" cap="flat" cmpd="sng" algn="ctr">
                      <a:solidFill>
                        <a:srgbClr val="D6E4F0"/>
                      </a:solidFill>
                      <a:prstDash val="solid"/>
                      <a:round/>
                      <a:headEnd type="none" w="med" len="med"/>
                      <a:tailEnd type="none" w="med" len="med"/>
                    </a:lnL>
                    <a:lnR w="9525" cap="flat" cmpd="sng" algn="ctr">
                      <a:solidFill>
                        <a:srgbClr val="D6E4F0"/>
                      </a:solidFill>
                      <a:prstDash val="solid"/>
                      <a:round/>
                      <a:headEnd type="none" w="med" len="med"/>
                      <a:tailEnd type="none" w="med" len="med"/>
                    </a:lnR>
                    <a:lnT w="9525" cap="flat" cmpd="sng" algn="ctr">
                      <a:solidFill>
                        <a:srgbClr val="D6E4F0"/>
                      </a:solidFill>
                      <a:prstDash val="solid"/>
                      <a:round/>
                      <a:headEnd type="none" w="med" len="med"/>
                      <a:tailEnd type="none" w="med" len="med"/>
                    </a:lnT>
                    <a:lnB w="9525" cap="flat" cmpd="sng" algn="ctr">
                      <a:solidFill>
                        <a:srgbClr val="D6E4F0"/>
                      </a:solidFill>
                      <a:prstDash val="solid"/>
                      <a:round/>
                      <a:headEnd type="none" w="med" len="med"/>
                      <a:tailEnd type="none" w="med" len="med"/>
                    </a:lnB>
                    <a:solidFill>
                      <a:srgbClr val="FFFFFF"/>
                    </a:solidFill>
                  </a:tcPr>
                </a:tc>
              </a:tr>
            </a:tbl>
          </a:graphicData>
        </a:graphic>
      </p:graphicFrame>
      <p:sp>
        <p:nvSpPr>
          <p:cNvPr id="7" name="Text 3"/>
          <p:cNvSpPr/>
          <p:nvPr/>
        </p:nvSpPr>
        <p:spPr>
          <a:xfrm>
            <a:off x="11612880" y="6446520"/>
            <a:ext cx="457200" cy="274320"/>
          </a:xfrm>
          <a:prstGeom prst="rect">
            <a:avLst/>
          </a:prstGeom>
          <a:noFill/>
          <a:ln/>
        </p:spPr>
        <p:txBody>
          <a:bodyPr wrap="square" rtlCol="0" anchor="ctr"/>
          <a:lstStyle/>
          <a:p>
            <a:pPr algn="r" indent="0" marL="0">
              <a:buNone/>
            </a:pPr>
            <a:r>
              <a:rPr lang="en-US" sz="1100" dirty="0">
                <a:solidFill>
                  <a:srgbClr val="5B7A9D"/>
                </a:solidFill>
                <a:latin typeface="Calibri" pitchFamily="34" charset="0"/>
                <a:ea typeface="Calibri" pitchFamily="34" charset="-122"/>
                <a:cs typeface="Calibri" pitchFamily="34" charset="-120"/>
              </a:rPr>
              <a:t>6</a:t>
            </a:r>
            <a:endParaRPr lang="en-US" sz="1100" dirty="0"/>
          </a:p>
        </p:txBody>
      </p:sp>
      <p:sp>
        <p:nvSpPr>
          <p:cNvPr id="8" name="Text 4"/>
          <p:cNvSpPr/>
          <p:nvPr/>
        </p:nvSpPr>
        <p:spPr>
          <a:xfrm>
            <a:off x="640080" y="6446520"/>
            <a:ext cx="6400800" cy="274320"/>
          </a:xfrm>
          <a:prstGeom prst="rect">
            <a:avLst/>
          </a:prstGeom>
          <a:noFill/>
          <a:ln/>
        </p:spPr>
        <p:txBody>
          <a:bodyPr wrap="square" rtlCol="0" anchor="ctr"/>
          <a:lstStyle/>
          <a:p>
            <a:pPr indent="0" marL="0">
              <a:buNone/>
            </a:pPr>
            <a:r>
              <a:rPr lang="en-US" sz="900" spc="150" kern="0" dirty="0">
                <a:solidFill>
                  <a:srgbClr val="A9BBD0"/>
                </a:solidFill>
                <a:latin typeface="Calibri" pitchFamily="34" charset="0"/>
                <a:ea typeface="Calibri" pitchFamily="34" charset="-122"/>
                <a:cs typeface="Calibri" pitchFamily="34" charset="-120"/>
              </a:rPr>
              <a:t>HEALTHCARE APPOINTMENT BOOKING SYSTEM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2647"/>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250" b="1" spc="250" kern="0" dirty="0">
                <a:solidFill>
                  <a:srgbClr val="5DE0E6"/>
                </a:solidFill>
                <a:latin typeface="Calibri" pitchFamily="34" charset="0"/>
                <a:ea typeface="Calibri" pitchFamily="34" charset="-122"/>
                <a:cs typeface="Calibri" pitchFamily="34" charset="-120"/>
              </a:rPr>
              <a:t>SYSTEM DESIGN</a:t>
            </a:r>
            <a:endParaRPr lang="en-US" sz="1250" dirty="0"/>
          </a:p>
        </p:txBody>
      </p:sp>
      <p:sp>
        <p:nvSpPr>
          <p:cNvPr id="3" name="Text 1"/>
          <p:cNvSpPr/>
          <p:nvPr/>
        </p:nvSpPr>
        <p:spPr>
          <a:xfrm>
            <a:off x="640080" y="749808"/>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Architecture</a:t>
            </a:r>
            <a:endParaRPr lang="en-US" sz="3000" dirty="0"/>
          </a:p>
        </p:txBody>
      </p:sp>
      <p:sp>
        <p:nvSpPr>
          <p:cNvPr id="4" name="Shape 2"/>
          <p:cNvSpPr/>
          <p:nvPr/>
        </p:nvSpPr>
        <p:spPr>
          <a:xfrm>
            <a:off x="640080" y="1554480"/>
            <a:ext cx="10881360" cy="4709160"/>
          </a:xfrm>
          <a:prstGeom prst="roundRect">
            <a:avLst>
              <a:gd name="adj" fmla="val 1942"/>
            </a:avLst>
          </a:prstGeom>
          <a:solidFill>
            <a:srgbClr val="FFFFFF"/>
          </a:solidFill>
          <a:ln/>
          <a:effectLst>
            <a:outerShdw sx="100000" sy="100000" kx="0" ky="0" algn="bl" rotWithShape="0" blurRad="152400" dist="50800" dir="5400000">
              <a:srgbClr val="000000">
                <a:alpha val="25000"/>
              </a:srgbClr>
            </a:outerShdw>
          </a:effectLst>
        </p:spPr>
      </p:sp>
      <p:sp>
        <p:nvSpPr>
          <p:cNvPr id="5" name="Shape 3"/>
          <p:cNvSpPr/>
          <p:nvPr/>
        </p:nvSpPr>
        <p:spPr>
          <a:xfrm>
            <a:off x="1188720" y="1874520"/>
            <a:ext cx="2286000" cy="566928"/>
          </a:xfrm>
          <a:prstGeom prst="roundRect">
            <a:avLst>
              <a:gd name="adj" fmla="val 12903"/>
            </a:avLst>
          </a:prstGeom>
          <a:solidFill>
            <a:srgbClr val="F0F6FC"/>
          </a:solidFill>
          <a:ln w="15875">
            <a:solidFill>
              <a:srgbClr val="205295"/>
            </a:solidFill>
            <a:prstDash val="solid"/>
          </a:ln>
        </p:spPr>
      </p:sp>
      <p:sp>
        <p:nvSpPr>
          <p:cNvPr id="6" name="Text 4"/>
          <p:cNvSpPr/>
          <p:nvPr/>
        </p:nvSpPr>
        <p:spPr>
          <a:xfrm>
            <a:off x="1188720" y="1874520"/>
            <a:ext cx="2286000" cy="566928"/>
          </a:xfrm>
          <a:prstGeom prst="rect">
            <a:avLst/>
          </a:prstGeom>
          <a:noFill/>
          <a:ln/>
        </p:spPr>
        <p:txBody>
          <a:bodyPr wrap="square" lIns="0" tIns="0" rIns="0" bIns="0" rtlCol="0" anchor="ctr"/>
          <a:lstStyle/>
          <a:p>
            <a:pPr algn="ctr" indent="0" marL="0">
              <a:buNone/>
            </a:pPr>
            <a:r>
              <a:rPr lang="en-US" sz="1250" b="1" dirty="0">
                <a:solidFill>
                  <a:srgbClr val="0A2647"/>
                </a:solidFill>
                <a:latin typeface="Calibri" pitchFamily="34" charset="0"/>
                <a:ea typeface="Calibri" pitchFamily="34" charset="-122"/>
                <a:cs typeface="Calibri" pitchFamily="34" charset="-120"/>
              </a:rPr>
              <a:t>Frontend Web App</a:t>
            </a:r>
            <a:endParaRPr lang="en-US" sz="1250" dirty="0"/>
          </a:p>
        </p:txBody>
      </p:sp>
      <p:sp>
        <p:nvSpPr>
          <p:cNvPr id="7" name="Shape 5"/>
          <p:cNvSpPr/>
          <p:nvPr/>
        </p:nvSpPr>
        <p:spPr>
          <a:xfrm>
            <a:off x="2331720" y="2441448"/>
            <a:ext cx="0" cy="320040"/>
          </a:xfrm>
          <a:prstGeom prst="line">
            <a:avLst/>
          </a:prstGeom>
          <a:noFill/>
          <a:ln w="19050">
            <a:solidFill>
              <a:srgbClr val="205295"/>
            </a:solidFill>
            <a:prstDash val="solid"/>
            <a:tailEnd type="triangle"/>
          </a:ln>
        </p:spPr>
      </p:sp>
      <p:sp>
        <p:nvSpPr>
          <p:cNvPr id="8" name="Shape 6"/>
          <p:cNvSpPr/>
          <p:nvPr/>
        </p:nvSpPr>
        <p:spPr>
          <a:xfrm>
            <a:off x="1188720" y="2761488"/>
            <a:ext cx="2286000" cy="566928"/>
          </a:xfrm>
          <a:prstGeom prst="roundRect">
            <a:avLst>
              <a:gd name="adj" fmla="val 12903"/>
            </a:avLst>
          </a:prstGeom>
          <a:solidFill>
            <a:srgbClr val="F0F6FC"/>
          </a:solidFill>
          <a:ln w="15875">
            <a:solidFill>
              <a:srgbClr val="205295"/>
            </a:solidFill>
            <a:prstDash val="solid"/>
          </a:ln>
        </p:spPr>
      </p:sp>
      <p:sp>
        <p:nvSpPr>
          <p:cNvPr id="9" name="Text 7"/>
          <p:cNvSpPr/>
          <p:nvPr/>
        </p:nvSpPr>
        <p:spPr>
          <a:xfrm>
            <a:off x="1188720" y="2761488"/>
            <a:ext cx="2286000" cy="566928"/>
          </a:xfrm>
          <a:prstGeom prst="rect">
            <a:avLst/>
          </a:prstGeom>
          <a:noFill/>
          <a:ln/>
        </p:spPr>
        <p:txBody>
          <a:bodyPr wrap="square" lIns="0" tIns="0" rIns="0" bIns="0" rtlCol="0" anchor="ctr"/>
          <a:lstStyle/>
          <a:p>
            <a:pPr algn="ctr" indent="0" marL="0">
              <a:buNone/>
            </a:pPr>
            <a:r>
              <a:rPr lang="en-US" sz="1250" b="1" dirty="0">
                <a:solidFill>
                  <a:srgbClr val="0A2647"/>
                </a:solidFill>
                <a:latin typeface="Calibri" pitchFamily="34" charset="0"/>
                <a:ea typeface="Calibri" pitchFamily="34" charset="-122"/>
                <a:cs typeface="Calibri" pitchFamily="34" charset="-120"/>
              </a:rPr>
              <a:t>Cognito Login</a:t>
            </a:r>
            <a:endParaRPr lang="en-US" sz="1250" dirty="0"/>
          </a:p>
        </p:txBody>
      </p:sp>
      <p:sp>
        <p:nvSpPr>
          <p:cNvPr id="10" name="Shape 8"/>
          <p:cNvSpPr/>
          <p:nvPr/>
        </p:nvSpPr>
        <p:spPr>
          <a:xfrm>
            <a:off x="2331720" y="3328416"/>
            <a:ext cx="0" cy="320040"/>
          </a:xfrm>
          <a:prstGeom prst="line">
            <a:avLst/>
          </a:prstGeom>
          <a:noFill/>
          <a:ln w="19050">
            <a:solidFill>
              <a:srgbClr val="205295"/>
            </a:solidFill>
            <a:prstDash val="solid"/>
            <a:tailEnd type="triangle"/>
          </a:ln>
        </p:spPr>
      </p:sp>
      <p:sp>
        <p:nvSpPr>
          <p:cNvPr id="11" name="Shape 9"/>
          <p:cNvSpPr/>
          <p:nvPr/>
        </p:nvSpPr>
        <p:spPr>
          <a:xfrm>
            <a:off x="1188720" y="3648456"/>
            <a:ext cx="2286000" cy="566928"/>
          </a:xfrm>
          <a:prstGeom prst="roundRect">
            <a:avLst>
              <a:gd name="adj" fmla="val 12903"/>
            </a:avLst>
          </a:prstGeom>
          <a:solidFill>
            <a:srgbClr val="F0F6FC"/>
          </a:solidFill>
          <a:ln w="15875">
            <a:solidFill>
              <a:srgbClr val="205295"/>
            </a:solidFill>
            <a:prstDash val="solid"/>
          </a:ln>
        </p:spPr>
      </p:sp>
      <p:sp>
        <p:nvSpPr>
          <p:cNvPr id="12" name="Text 10"/>
          <p:cNvSpPr/>
          <p:nvPr/>
        </p:nvSpPr>
        <p:spPr>
          <a:xfrm>
            <a:off x="1188720" y="3648456"/>
            <a:ext cx="2286000" cy="566928"/>
          </a:xfrm>
          <a:prstGeom prst="rect">
            <a:avLst/>
          </a:prstGeom>
          <a:noFill/>
          <a:ln/>
        </p:spPr>
        <p:txBody>
          <a:bodyPr wrap="square" lIns="0" tIns="0" rIns="0" bIns="0" rtlCol="0" anchor="ctr"/>
          <a:lstStyle/>
          <a:p>
            <a:pPr algn="ctr" indent="0" marL="0">
              <a:buNone/>
            </a:pPr>
            <a:r>
              <a:rPr lang="en-US" sz="1250" b="1" dirty="0">
                <a:solidFill>
                  <a:srgbClr val="0A2647"/>
                </a:solidFill>
                <a:latin typeface="Calibri" pitchFamily="34" charset="0"/>
                <a:ea typeface="Calibri" pitchFamily="34" charset="-122"/>
                <a:cs typeface="Calibri" pitchFamily="34" charset="-120"/>
              </a:rPr>
              <a:t>API Gateway</a:t>
            </a:r>
            <a:endParaRPr lang="en-US" sz="1250" dirty="0"/>
          </a:p>
        </p:txBody>
      </p:sp>
      <p:sp>
        <p:nvSpPr>
          <p:cNvPr id="13" name="Shape 11"/>
          <p:cNvSpPr/>
          <p:nvPr/>
        </p:nvSpPr>
        <p:spPr>
          <a:xfrm>
            <a:off x="2331720" y="4215384"/>
            <a:ext cx="0" cy="320040"/>
          </a:xfrm>
          <a:prstGeom prst="line">
            <a:avLst/>
          </a:prstGeom>
          <a:noFill/>
          <a:ln w="19050">
            <a:solidFill>
              <a:srgbClr val="205295"/>
            </a:solidFill>
            <a:prstDash val="solid"/>
            <a:tailEnd type="triangle"/>
          </a:ln>
        </p:spPr>
      </p:sp>
      <p:sp>
        <p:nvSpPr>
          <p:cNvPr id="14" name="Shape 12"/>
          <p:cNvSpPr/>
          <p:nvPr/>
        </p:nvSpPr>
        <p:spPr>
          <a:xfrm>
            <a:off x="1188720" y="4535424"/>
            <a:ext cx="2286000" cy="566928"/>
          </a:xfrm>
          <a:prstGeom prst="roundRect">
            <a:avLst>
              <a:gd name="adj" fmla="val 12903"/>
            </a:avLst>
          </a:prstGeom>
          <a:solidFill>
            <a:srgbClr val="F0F6FC"/>
          </a:solidFill>
          <a:ln w="15875">
            <a:solidFill>
              <a:srgbClr val="205295"/>
            </a:solidFill>
            <a:prstDash val="solid"/>
          </a:ln>
        </p:spPr>
      </p:sp>
      <p:sp>
        <p:nvSpPr>
          <p:cNvPr id="15" name="Text 13"/>
          <p:cNvSpPr/>
          <p:nvPr/>
        </p:nvSpPr>
        <p:spPr>
          <a:xfrm>
            <a:off x="1188720" y="4535424"/>
            <a:ext cx="2286000" cy="566928"/>
          </a:xfrm>
          <a:prstGeom prst="rect">
            <a:avLst/>
          </a:prstGeom>
          <a:noFill/>
          <a:ln/>
        </p:spPr>
        <p:txBody>
          <a:bodyPr wrap="square" lIns="0" tIns="0" rIns="0" bIns="0" rtlCol="0" anchor="ctr"/>
          <a:lstStyle/>
          <a:p>
            <a:pPr algn="ctr" indent="0" marL="0">
              <a:buNone/>
            </a:pPr>
            <a:r>
              <a:rPr lang="en-US" sz="1250" b="1" dirty="0">
                <a:solidFill>
                  <a:srgbClr val="0A2647"/>
                </a:solidFill>
                <a:latin typeface="Calibri" pitchFamily="34" charset="0"/>
                <a:ea typeface="Calibri" pitchFamily="34" charset="-122"/>
                <a:cs typeface="Calibri" pitchFamily="34" charset="-120"/>
              </a:rPr>
              <a:t>Booking Request</a:t>
            </a:r>
            <a:endParaRPr lang="en-US" sz="1250" dirty="0"/>
          </a:p>
        </p:txBody>
      </p:sp>
      <p:sp>
        <p:nvSpPr>
          <p:cNvPr id="16" name="Shape 14"/>
          <p:cNvSpPr/>
          <p:nvPr/>
        </p:nvSpPr>
        <p:spPr>
          <a:xfrm>
            <a:off x="3474720" y="4818888"/>
            <a:ext cx="1051560" cy="0"/>
          </a:xfrm>
          <a:prstGeom prst="line">
            <a:avLst/>
          </a:prstGeom>
          <a:noFill/>
          <a:ln w="19050">
            <a:solidFill>
              <a:srgbClr val="205295"/>
            </a:solidFill>
            <a:prstDash val="solid"/>
            <a:tailEnd type="triangle"/>
          </a:ln>
        </p:spPr>
      </p:sp>
      <p:sp>
        <p:nvSpPr>
          <p:cNvPr id="17" name="Shape 15"/>
          <p:cNvSpPr/>
          <p:nvPr/>
        </p:nvSpPr>
        <p:spPr>
          <a:xfrm>
            <a:off x="4526280" y="4535424"/>
            <a:ext cx="2286000" cy="566928"/>
          </a:xfrm>
          <a:prstGeom prst="roundRect">
            <a:avLst>
              <a:gd name="adj" fmla="val 12903"/>
            </a:avLst>
          </a:prstGeom>
          <a:solidFill>
            <a:srgbClr val="F0F6FC"/>
          </a:solidFill>
          <a:ln w="15875">
            <a:solidFill>
              <a:srgbClr val="205295"/>
            </a:solidFill>
            <a:prstDash val="solid"/>
          </a:ln>
        </p:spPr>
      </p:sp>
      <p:sp>
        <p:nvSpPr>
          <p:cNvPr id="18" name="Text 16"/>
          <p:cNvSpPr/>
          <p:nvPr/>
        </p:nvSpPr>
        <p:spPr>
          <a:xfrm>
            <a:off x="4526280" y="4535424"/>
            <a:ext cx="2286000" cy="566928"/>
          </a:xfrm>
          <a:prstGeom prst="rect">
            <a:avLst/>
          </a:prstGeom>
          <a:noFill/>
          <a:ln/>
        </p:spPr>
        <p:txBody>
          <a:bodyPr wrap="square" lIns="0" tIns="0" rIns="0" bIns="0" rtlCol="0" anchor="ctr"/>
          <a:lstStyle/>
          <a:p>
            <a:pPr algn="ctr" indent="0" marL="0">
              <a:buNone/>
            </a:pPr>
            <a:r>
              <a:rPr lang="en-US" sz="1250" b="1" dirty="0">
                <a:solidFill>
                  <a:srgbClr val="0A2647"/>
                </a:solidFill>
                <a:latin typeface="Calibri" pitchFamily="34" charset="0"/>
                <a:ea typeface="Calibri" pitchFamily="34" charset="-122"/>
                <a:cs typeface="Calibri" pitchFamily="34" charset="-120"/>
              </a:rPr>
              <a:t>Lambda Function</a:t>
            </a:r>
            <a:endParaRPr lang="en-US" sz="1250" dirty="0"/>
          </a:p>
        </p:txBody>
      </p:sp>
      <p:sp>
        <p:nvSpPr>
          <p:cNvPr id="19" name="Shape 17"/>
          <p:cNvSpPr/>
          <p:nvPr/>
        </p:nvSpPr>
        <p:spPr>
          <a:xfrm>
            <a:off x="6812280" y="4818888"/>
            <a:ext cx="1005840" cy="0"/>
          </a:xfrm>
          <a:prstGeom prst="line">
            <a:avLst/>
          </a:prstGeom>
          <a:noFill/>
          <a:ln w="19050">
            <a:solidFill>
              <a:srgbClr val="205295"/>
            </a:solidFill>
            <a:prstDash val="solid"/>
            <a:tailEnd type="triangle"/>
          </a:ln>
        </p:spPr>
      </p:sp>
      <p:sp>
        <p:nvSpPr>
          <p:cNvPr id="20" name="Shape 18"/>
          <p:cNvSpPr/>
          <p:nvPr/>
        </p:nvSpPr>
        <p:spPr>
          <a:xfrm>
            <a:off x="7818120" y="4535424"/>
            <a:ext cx="18288" cy="18288"/>
          </a:xfrm>
          <a:prstGeom prst="roundRect">
            <a:avLst>
              <a:gd name="adj" fmla="val 400000"/>
            </a:avLst>
          </a:prstGeom>
          <a:solidFill>
            <a:srgbClr val="F0F6FC"/>
          </a:solidFill>
          <a:ln w="15875">
            <a:solidFill>
              <a:srgbClr val="205295"/>
            </a:solidFill>
            <a:prstDash val="solid"/>
          </a:ln>
        </p:spPr>
      </p:sp>
      <p:sp>
        <p:nvSpPr>
          <p:cNvPr id="21" name="Text 19"/>
          <p:cNvSpPr/>
          <p:nvPr/>
        </p:nvSpPr>
        <p:spPr>
          <a:xfrm>
            <a:off x="7818120" y="4535424"/>
            <a:ext cx="18288" cy="18288"/>
          </a:xfrm>
          <a:prstGeom prst="rect">
            <a:avLst/>
          </a:prstGeom>
          <a:noFill/>
          <a:ln/>
        </p:spPr>
        <p:txBody>
          <a:bodyPr wrap="square" lIns="0" tIns="0" rIns="0" bIns="0" rtlCol="0" anchor="ctr"/>
          <a:lstStyle/>
          <a:p>
            <a:pPr algn="ctr" indent="0" marL="0">
              <a:buNone/>
            </a:pPr>
            <a:endParaRPr lang="en-US" sz="1250" dirty="0"/>
          </a:p>
        </p:txBody>
      </p:sp>
      <p:sp>
        <p:nvSpPr>
          <p:cNvPr id="22" name="Shape 20"/>
          <p:cNvSpPr/>
          <p:nvPr/>
        </p:nvSpPr>
        <p:spPr>
          <a:xfrm>
            <a:off x="7818120" y="1874520"/>
            <a:ext cx="2148840" cy="566928"/>
          </a:xfrm>
          <a:prstGeom prst="roundRect">
            <a:avLst>
              <a:gd name="adj" fmla="val 12903"/>
            </a:avLst>
          </a:prstGeom>
          <a:solidFill>
            <a:srgbClr val="F0F6FC"/>
          </a:solidFill>
          <a:ln w="15875">
            <a:solidFill>
              <a:srgbClr val="205295"/>
            </a:solidFill>
            <a:prstDash val="solid"/>
          </a:ln>
        </p:spPr>
      </p:sp>
      <p:sp>
        <p:nvSpPr>
          <p:cNvPr id="23" name="Text 21"/>
          <p:cNvSpPr/>
          <p:nvPr/>
        </p:nvSpPr>
        <p:spPr>
          <a:xfrm>
            <a:off x="7818120" y="1874520"/>
            <a:ext cx="2148840" cy="566928"/>
          </a:xfrm>
          <a:prstGeom prst="rect">
            <a:avLst/>
          </a:prstGeom>
          <a:noFill/>
          <a:ln/>
        </p:spPr>
        <p:txBody>
          <a:bodyPr wrap="square" lIns="0" tIns="0" rIns="0" bIns="0" rtlCol="0" anchor="ctr"/>
          <a:lstStyle/>
          <a:p>
            <a:pPr algn="ctr" indent="0" marL="0">
              <a:buNone/>
            </a:pPr>
            <a:r>
              <a:rPr lang="en-US" sz="1250" b="1" dirty="0">
                <a:solidFill>
                  <a:srgbClr val="0A2647"/>
                </a:solidFill>
                <a:latin typeface="Calibri" pitchFamily="34" charset="0"/>
                <a:ea typeface="Calibri" pitchFamily="34" charset="-122"/>
                <a:cs typeface="Calibri" pitchFamily="34" charset="-120"/>
              </a:rPr>
              <a:t>DynamoDB</a:t>
            </a:r>
            <a:endParaRPr lang="en-US" sz="1250" dirty="0"/>
          </a:p>
          <a:p>
            <a:pPr algn="ctr" indent="0" marL="0">
              <a:buNone/>
            </a:pPr>
            <a:r>
              <a:rPr lang="en-US" sz="1250" b="1" dirty="0">
                <a:solidFill>
                  <a:srgbClr val="0A2647"/>
                </a:solidFill>
                <a:latin typeface="Calibri" pitchFamily="34" charset="0"/>
                <a:ea typeface="Calibri" pitchFamily="34" charset="-122"/>
                <a:cs typeface="Calibri" pitchFamily="34" charset="-120"/>
              </a:rPr>
              <a:t>(Appointments)</a:t>
            </a:r>
            <a:endParaRPr lang="en-US" sz="1250" dirty="0"/>
          </a:p>
        </p:txBody>
      </p:sp>
      <p:sp>
        <p:nvSpPr>
          <p:cNvPr id="24" name="Shape 22"/>
          <p:cNvSpPr/>
          <p:nvPr/>
        </p:nvSpPr>
        <p:spPr>
          <a:xfrm>
            <a:off x="6812280" y="4818888"/>
            <a:ext cx="1005840" cy="-2660904"/>
          </a:xfrm>
          <a:prstGeom prst="line">
            <a:avLst/>
          </a:prstGeom>
          <a:noFill/>
          <a:ln w="15875">
            <a:solidFill>
              <a:srgbClr val="205295"/>
            </a:solidFill>
            <a:prstDash val="solid"/>
            <a:tailEnd type="triangle"/>
          </a:ln>
        </p:spPr>
      </p:sp>
      <p:sp>
        <p:nvSpPr>
          <p:cNvPr id="25" name="Shape 23"/>
          <p:cNvSpPr/>
          <p:nvPr/>
        </p:nvSpPr>
        <p:spPr>
          <a:xfrm>
            <a:off x="7818120" y="2834640"/>
            <a:ext cx="2148840" cy="566928"/>
          </a:xfrm>
          <a:prstGeom prst="roundRect">
            <a:avLst>
              <a:gd name="adj" fmla="val 12903"/>
            </a:avLst>
          </a:prstGeom>
          <a:solidFill>
            <a:srgbClr val="F0F6FC"/>
          </a:solidFill>
          <a:ln w="15875">
            <a:solidFill>
              <a:srgbClr val="205295"/>
            </a:solidFill>
            <a:prstDash val="solid"/>
          </a:ln>
        </p:spPr>
      </p:sp>
      <p:sp>
        <p:nvSpPr>
          <p:cNvPr id="26" name="Text 24"/>
          <p:cNvSpPr/>
          <p:nvPr/>
        </p:nvSpPr>
        <p:spPr>
          <a:xfrm>
            <a:off x="7818120" y="2834640"/>
            <a:ext cx="2148840" cy="566928"/>
          </a:xfrm>
          <a:prstGeom prst="rect">
            <a:avLst/>
          </a:prstGeom>
          <a:noFill/>
          <a:ln/>
        </p:spPr>
        <p:txBody>
          <a:bodyPr wrap="square" lIns="0" tIns="0" rIns="0" bIns="0" rtlCol="0" anchor="ctr"/>
          <a:lstStyle/>
          <a:p>
            <a:pPr algn="ctr" indent="0" marL="0">
              <a:buNone/>
            </a:pPr>
            <a:r>
              <a:rPr lang="en-US" sz="1250" b="1" dirty="0">
                <a:solidFill>
                  <a:srgbClr val="0A2647"/>
                </a:solidFill>
                <a:latin typeface="Calibri" pitchFamily="34" charset="0"/>
                <a:ea typeface="Calibri" pitchFamily="34" charset="-122"/>
                <a:cs typeface="Calibri" pitchFamily="34" charset="-120"/>
              </a:rPr>
              <a:t>S3</a:t>
            </a:r>
            <a:endParaRPr lang="en-US" sz="1250" dirty="0"/>
          </a:p>
          <a:p>
            <a:pPr algn="ctr" indent="0" marL="0">
              <a:buNone/>
            </a:pPr>
            <a:r>
              <a:rPr lang="en-US" sz="1250" b="1" dirty="0">
                <a:solidFill>
                  <a:srgbClr val="0A2647"/>
                </a:solidFill>
                <a:latin typeface="Calibri" pitchFamily="34" charset="0"/>
                <a:ea typeface="Calibri" pitchFamily="34" charset="-122"/>
                <a:cs typeface="Calibri" pitchFamily="34" charset="-120"/>
              </a:rPr>
              <a:t>(Documents)</a:t>
            </a:r>
            <a:endParaRPr lang="en-US" sz="1250" dirty="0"/>
          </a:p>
        </p:txBody>
      </p:sp>
      <p:sp>
        <p:nvSpPr>
          <p:cNvPr id="27" name="Shape 25"/>
          <p:cNvSpPr/>
          <p:nvPr/>
        </p:nvSpPr>
        <p:spPr>
          <a:xfrm>
            <a:off x="6812280" y="4818888"/>
            <a:ext cx="1005840" cy="-1700784"/>
          </a:xfrm>
          <a:prstGeom prst="line">
            <a:avLst/>
          </a:prstGeom>
          <a:noFill/>
          <a:ln w="15875">
            <a:solidFill>
              <a:srgbClr val="205295"/>
            </a:solidFill>
            <a:prstDash val="solid"/>
            <a:tailEnd type="triangle"/>
          </a:ln>
        </p:spPr>
      </p:sp>
      <p:sp>
        <p:nvSpPr>
          <p:cNvPr id="28" name="Shape 26"/>
          <p:cNvSpPr/>
          <p:nvPr/>
        </p:nvSpPr>
        <p:spPr>
          <a:xfrm>
            <a:off x="7818120" y="3794760"/>
            <a:ext cx="2148840" cy="566928"/>
          </a:xfrm>
          <a:prstGeom prst="roundRect">
            <a:avLst>
              <a:gd name="adj" fmla="val 12903"/>
            </a:avLst>
          </a:prstGeom>
          <a:solidFill>
            <a:srgbClr val="F0F6FC"/>
          </a:solidFill>
          <a:ln w="15875">
            <a:solidFill>
              <a:srgbClr val="205295"/>
            </a:solidFill>
            <a:prstDash val="solid"/>
          </a:ln>
        </p:spPr>
      </p:sp>
      <p:sp>
        <p:nvSpPr>
          <p:cNvPr id="29" name="Text 27"/>
          <p:cNvSpPr/>
          <p:nvPr/>
        </p:nvSpPr>
        <p:spPr>
          <a:xfrm>
            <a:off x="7818120" y="3794760"/>
            <a:ext cx="2148840" cy="566928"/>
          </a:xfrm>
          <a:prstGeom prst="rect">
            <a:avLst/>
          </a:prstGeom>
          <a:noFill/>
          <a:ln/>
        </p:spPr>
        <p:txBody>
          <a:bodyPr wrap="square" lIns="0" tIns="0" rIns="0" bIns="0" rtlCol="0" anchor="ctr"/>
          <a:lstStyle/>
          <a:p>
            <a:pPr algn="ctr" indent="0" marL="0">
              <a:buNone/>
            </a:pPr>
            <a:r>
              <a:rPr lang="en-US" sz="1250" b="1" dirty="0">
                <a:solidFill>
                  <a:srgbClr val="0A2647"/>
                </a:solidFill>
                <a:latin typeface="Calibri" pitchFamily="34" charset="0"/>
                <a:ea typeface="Calibri" pitchFamily="34" charset="-122"/>
                <a:cs typeface="Calibri" pitchFamily="34" charset="-120"/>
              </a:rPr>
              <a:t>SES / SNS</a:t>
            </a:r>
            <a:endParaRPr lang="en-US" sz="1250" dirty="0"/>
          </a:p>
          <a:p>
            <a:pPr algn="ctr" indent="0" marL="0">
              <a:buNone/>
            </a:pPr>
            <a:r>
              <a:rPr lang="en-US" sz="1250" b="1" dirty="0">
                <a:solidFill>
                  <a:srgbClr val="0A2647"/>
                </a:solidFill>
                <a:latin typeface="Calibri" pitchFamily="34" charset="0"/>
                <a:ea typeface="Calibri" pitchFamily="34" charset="-122"/>
                <a:cs typeface="Calibri" pitchFamily="34" charset="-120"/>
              </a:rPr>
              <a:t>(Notifications)</a:t>
            </a:r>
            <a:endParaRPr lang="en-US" sz="1250" dirty="0"/>
          </a:p>
        </p:txBody>
      </p:sp>
      <p:sp>
        <p:nvSpPr>
          <p:cNvPr id="30" name="Shape 28"/>
          <p:cNvSpPr/>
          <p:nvPr/>
        </p:nvSpPr>
        <p:spPr>
          <a:xfrm>
            <a:off x="6812280" y="4818888"/>
            <a:ext cx="1005840" cy="-740664"/>
          </a:xfrm>
          <a:prstGeom prst="line">
            <a:avLst/>
          </a:prstGeom>
          <a:noFill/>
          <a:ln w="15875">
            <a:solidFill>
              <a:srgbClr val="205295"/>
            </a:solidFill>
            <a:prstDash val="solid"/>
            <a:tailEnd type="triangle"/>
          </a:ln>
        </p:spPr>
      </p:sp>
      <p:sp>
        <p:nvSpPr>
          <p:cNvPr id="31" name="Shape 29"/>
          <p:cNvSpPr/>
          <p:nvPr/>
        </p:nvSpPr>
        <p:spPr>
          <a:xfrm>
            <a:off x="594360" y="1874520"/>
            <a:ext cx="457200" cy="457200"/>
          </a:xfrm>
          <a:prstGeom prst="ellipse">
            <a:avLst/>
          </a:prstGeom>
          <a:solidFill>
            <a:srgbClr val="205295"/>
          </a:solidFill>
          <a:ln/>
        </p:spPr>
      </p:sp>
      <p:pic>
        <p:nvPicPr>
          <p:cNvPr id="32" name="Image 0" descr="/home/claude/icons/doctor.png">    </p:cNvPr>
          <p:cNvPicPr>
            <a:picLocks noChangeAspect="1"/>
          </p:cNvPicPr>
          <p:nvPr/>
        </p:nvPicPr>
        <p:blipFill>
          <a:blip r:embed="rId1"/>
          <a:stretch>
            <a:fillRect/>
          </a:stretch>
        </p:blipFill>
        <p:spPr>
          <a:xfrm>
            <a:off x="697230" y="1977390"/>
            <a:ext cx="251460" cy="251460"/>
          </a:xfrm>
          <a:prstGeom prst="rect">
            <a:avLst/>
          </a:prstGeom>
        </p:spPr>
      </p:pic>
      <p:sp>
        <p:nvSpPr>
          <p:cNvPr id="33" name="Shape 30"/>
          <p:cNvSpPr/>
          <p:nvPr/>
        </p:nvSpPr>
        <p:spPr>
          <a:xfrm>
            <a:off x="10104120" y="1874520"/>
            <a:ext cx="457200" cy="457200"/>
          </a:xfrm>
          <a:prstGeom prst="ellipse">
            <a:avLst/>
          </a:prstGeom>
          <a:solidFill>
            <a:srgbClr val="2C74B3"/>
          </a:solidFill>
          <a:ln/>
        </p:spPr>
      </p:sp>
      <p:pic>
        <p:nvPicPr>
          <p:cNvPr id="34" name="Image 1" descr="/home/claude/icons/cloud.png">    </p:cNvPr>
          <p:cNvPicPr>
            <a:picLocks noChangeAspect="1"/>
          </p:cNvPicPr>
          <p:nvPr/>
        </p:nvPicPr>
        <p:blipFill>
          <a:blip r:embed="rId2"/>
          <a:stretch>
            <a:fillRect/>
          </a:stretch>
        </p:blipFill>
        <p:spPr>
          <a:xfrm>
            <a:off x="10206990" y="1977390"/>
            <a:ext cx="251460" cy="251460"/>
          </a:xfrm>
          <a:prstGeom prst="rect">
            <a:avLst/>
          </a:prstGeom>
        </p:spPr>
      </p:pic>
      <p:sp>
        <p:nvSpPr>
          <p:cNvPr id="36" name="Text 31"/>
          <p:cNvSpPr/>
          <p:nvPr/>
        </p:nvSpPr>
        <p:spPr>
          <a:xfrm>
            <a:off x="11612880" y="6446520"/>
            <a:ext cx="457200" cy="274320"/>
          </a:xfrm>
          <a:prstGeom prst="rect">
            <a:avLst/>
          </a:prstGeom>
          <a:noFill/>
          <a:ln/>
        </p:spPr>
        <p:txBody>
          <a:bodyPr wrap="square" rtlCol="0" anchor="ctr"/>
          <a:lstStyle/>
          <a:p>
            <a:pPr algn="r" indent="0" marL="0">
              <a:buNone/>
            </a:pPr>
            <a:r>
              <a:rPr lang="en-US" sz="1100" dirty="0">
                <a:solidFill>
                  <a:srgbClr val="9FB7D8"/>
                </a:solidFill>
                <a:latin typeface="Calibri" pitchFamily="34" charset="0"/>
                <a:ea typeface="Calibri" pitchFamily="34" charset="-122"/>
                <a:cs typeface="Calibri" pitchFamily="34" charset="-120"/>
              </a:rPr>
              <a:t>7</a:t>
            </a:r>
            <a:endParaRPr lang="en-US" sz="1100" dirty="0"/>
          </a:p>
        </p:txBody>
      </p:sp>
      <p:sp>
        <p:nvSpPr>
          <p:cNvPr id="37" name="Text 32"/>
          <p:cNvSpPr/>
          <p:nvPr/>
        </p:nvSpPr>
        <p:spPr>
          <a:xfrm>
            <a:off x="640080" y="6446520"/>
            <a:ext cx="6400800" cy="274320"/>
          </a:xfrm>
          <a:prstGeom prst="rect">
            <a:avLst/>
          </a:prstGeom>
          <a:noFill/>
          <a:ln/>
        </p:spPr>
        <p:txBody>
          <a:bodyPr wrap="square" rtlCol="0" anchor="ctr"/>
          <a:lstStyle/>
          <a:p>
            <a:pPr indent="0" marL="0">
              <a:buNone/>
            </a:pPr>
            <a:r>
              <a:rPr lang="en-US" sz="900" spc="150" kern="0" dirty="0">
                <a:solidFill>
                  <a:srgbClr val="6C8FB5"/>
                </a:solidFill>
                <a:latin typeface="Calibri" pitchFamily="34" charset="0"/>
                <a:ea typeface="Calibri" pitchFamily="34" charset="-122"/>
                <a:cs typeface="Calibri" pitchFamily="34" charset="-120"/>
              </a:rPr>
              <a:t>HEALTHCARE APPOINTMENT BOOKING SYSTEM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C"/>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indent="0" marL="0">
              <a:buNone/>
            </a:pPr>
            <a:r>
              <a:rPr lang="en-US" sz="1250" b="1" spc="250" kern="0" dirty="0">
                <a:solidFill>
                  <a:srgbClr val="2C74B3"/>
                </a:solidFill>
                <a:latin typeface="Calibri" pitchFamily="34" charset="0"/>
                <a:ea typeface="Calibri" pitchFamily="34" charset="-122"/>
                <a:cs typeface="Calibri" pitchFamily="34" charset="-120"/>
              </a:rPr>
              <a:t>WHAT'S NEXT</a:t>
            </a:r>
            <a:endParaRPr lang="en-US" sz="1250" dirty="0"/>
          </a:p>
        </p:txBody>
      </p:sp>
      <p:sp>
        <p:nvSpPr>
          <p:cNvPr id="3" name="Text 1"/>
          <p:cNvSpPr/>
          <p:nvPr/>
        </p:nvSpPr>
        <p:spPr>
          <a:xfrm>
            <a:off x="640080" y="749808"/>
            <a:ext cx="10515600" cy="731520"/>
          </a:xfrm>
          <a:prstGeom prst="rect">
            <a:avLst/>
          </a:prstGeom>
          <a:noFill/>
          <a:ln/>
        </p:spPr>
        <p:txBody>
          <a:bodyPr wrap="square" lIns="0" tIns="0" rIns="0" bIns="0" rtlCol="0" anchor="ctr"/>
          <a:lstStyle/>
          <a:p>
            <a:pPr indent="0" marL="0">
              <a:buNone/>
            </a:pPr>
            <a:r>
              <a:rPr lang="en-US" sz="3200" b="1" dirty="0">
                <a:solidFill>
                  <a:srgbClr val="0A2647"/>
                </a:solidFill>
                <a:latin typeface="Cambria" pitchFamily="34" charset="0"/>
                <a:ea typeface="Cambria" pitchFamily="34" charset="-122"/>
                <a:cs typeface="Cambria" pitchFamily="34" charset="-120"/>
              </a:rPr>
              <a:t>Future Work</a:t>
            </a:r>
            <a:endParaRPr lang="en-US" sz="3200" dirty="0"/>
          </a:p>
        </p:txBody>
      </p:sp>
      <p:sp>
        <p:nvSpPr>
          <p:cNvPr id="4" name="Shape 2"/>
          <p:cNvSpPr/>
          <p:nvPr/>
        </p:nvSpPr>
        <p:spPr>
          <a:xfrm>
            <a:off x="11475720" y="457200"/>
            <a:ext cx="128016" cy="128016"/>
          </a:xfrm>
          <a:prstGeom prst="ellipse">
            <a:avLst/>
          </a:prstGeom>
          <a:solidFill>
            <a:srgbClr val="5DE0E6"/>
          </a:solidFill>
          <a:ln/>
        </p:spPr>
      </p:sp>
      <p:sp>
        <p:nvSpPr>
          <p:cNvPr id="5" name="Shape 3"/>
          <p:cNvSpPr/>
          <p:nvPr/>
        </p:nvSpPr>
        <p:spPr>
          <a:xfrm>
            <a:off x="640080" y="1874520"/>
            <a:ext cx="2029968" cy="3566160"/>
          </a:xfrm>
          <a:prstGeom prst="roundRect">
            <a:avLst>
              <a:gd name="adj" fmla="val 4505"/>
            </a:avLst>
          </a:prstGeom>
          <a:solidFill>
            <a:srgbClr val="FFFFFF"/>
          </a:solidFill>
          <a:ln/>
          <a:effectLst>
            <a:outerShdw sx="100000" sy="100000" kx="0" ky="0" algn="bl" rotWithShape="0" blurRad="127000" dist="38100" dir="5400000">
              <a:srgbClr val="0A2647">
                <a:alpha val="12000"/>
              </a:srgbClr>
            </a:outerShdw>
          </a:effectLst>
        </p:spPr>
      </p:sp>
      <p:sp>
        <p:nvSpPr>
          <p:cNvPr id="6" name="Shape 4"/>
          <p:cNvSpPr/>
          <p:nvPr/>
        </p:nvSpPr>
        <p:spPr>
          <a:xfrm>
            <a:off x="640080" y="1874520"/>
            <a:ext cx="2029968" cy="109728"/>
          </a:xfrm>
          <a:prstGeom prst="roundRect">
            <a:avLst/>
          </a:prstGeom>
          <a:solidFill>
            <a:srgbClr val="205295"/>
          </a:solidFill>
          <a:ln/>
        </p:spPr>
      </p:sp>
      <p:sp>
        <p:nvSpPr>
          <p:cNvPr id="7" name="Text 5"/>
          <p:cNvSpPr/>
          <p:nvPr/>
        </p:nvSpPr>
        <p:spPr>
          <a:xfrm>
            <a:off x="822960" y="2148840"/>
            <a:ext cx="1664208" cy="457200"/>
          </a:xfrm>
          <a:prstGeom prst="rect">
            <a:avLst/>
          </a:prstGeom>
          <a:noFill/>
          <a:ln/>
        </p:spPr>
        <p:txBody>
          <a:bodyPr wrap="square" lIns="0" tIns="0" rIns="0" bIns="0" rtlCol="0" anchor="ctr"/>
          <a:lstStyle/>
          <a:p>
            <a:pPr indent="0" marL="0">
              <a:buNone/>
            </a:pPr>
            <a:r>
              <a:rPr lang="en-US" sz="2200" b="1" dirty="0">
                <a:solidFill>
                  <a:srgbClr val="C7D9EC"/>
                </a:solidFill>
                <a:latin typeface="Cambria" pitchFamily="34" charset="0"/>
                <a:ea typeface="Cambria" pitchFamily="34" charset="-122"/>
                <a:cs typeface="Cambria" pitchFamily="34" charset="-120"/>
              </a:rPr>
              <a:t>01</a:t>
            </a:r>
            <a:endParaRPr lang="en-US" sz="2200" dirty="0"/>
          </a:p>
        </p:txBody>
      </p:sp>
      <p:sp>
        <p:nvSpPr>
          <p:cNvPr id="8" name="Text 6"/>
          <p:cNvSpPr/>
          <p:nvPr/>
        </p:nvSpPr>
        <p:spPr>
          <a:xfrm>
            <a:off x="822960" y="2743200"/>
            <a:ext cx="1664208" cy="685800"/>
          </a:xfrm>
          <a:prstGeom prst="rect">
            <a:avLst/>
          </a:prstGeom>
          <a:noFill/>
          <a:ln/>
        </p:spPr>
        <p:txBody>
          <a:bodyPr wrap="square" lIns="0" tIns="0" rIns="0" bIns="0" rtlCol="0" anchor="ctr"/>
          <a:lstStyle/>
          <a:p>
            <a:pPr indent="0" marL="0">
              <a:lnSpc>
                <a:spcPts val="1700"/>
              </a:lnSpc>
              <a:buNone/>
            </a:pPr>
            <a:r>
              <a:rPr lang="en-US" sz="1400" b="1" dirty="0">
                <a:solidFill>
                  <a:srgbClr val="0A2647"/>
                </a:solidFill>
                <a:latin typeface="Calibri" pitchFamily="34" charset="0"/>
                <a:ea typeface="Calibri" pitchFamily="34" charset="-122"/>
                <a:cs typeface="Calibri" pitchFamily="34" charset="-120"/>
              </a:rPr>
              <a:t>Mobile App</a:t>
            </a:r>
            <a:endParaRPr lang="en-US" sz="1400" dirty="0"/>
          </a:p>
        </p:txBody>
      </p:sp>
      <p:sp>
        <p:nvSpPr>
          <p:cNvPr id="9" name="Text 7"/>
          <p:cNvSpPr/>
          <p:nvPr/>
        </p:nvSpPr>
        <p:spPr>
          <a:xfrm>
            <a:off x="822960" y="3474720"/>
            <a:ext cx="1664208" cy="1737360"/>
          </a:xfrm>
          <a:prstGeom prst="rect">
            <a:avLst/>
          </a:prstGeom>
          <a:noFill/>
          <a:ln/>
        </p:spPr>
        <p:txBody>
          <a:bodyPr wrap="square" lIns="0" tIns="0" rIns="0" bIns="0" rtlCol="0" anchor="ctr"/>
          <a:lstStyle/>
          <a:p>
            <a:pPr indent="0" marL="0">
              <a:lnSpc>
                <a:spcPts val="1400"/>
              </a:lnSpc>
              <a:buNone/>
            </a:pPr>
            <a:r>
              <a:rPr lang="en-US" sz="1050" dirty="0">
                <a:solidFill>
                  <a:srgbClr val="5B7A9D"/>
                </a:solidFill>
                <a:latin typeface="Calibri" pitchFamily="34" charset="0"/>
                <a:ea typeface="Calibri" pitchFamily="34" charset="-122"/>
                <a:cs typeface="Calibri" pitchFamily="34" charset="-120"/>
              </a:rPr>
              <a:t>Native mobile apps for patients and doctors on iOS and Android.</a:t>
            </a:r>
            <a:endParaRPr lang="en-US" sz="1050" dirty="0"/>
          </a:p>
        </p:txBody>
      </p:sp>
      <p:sp>
        <p:nvSpPr>
          <p:cNvPr id="10" name="Shape 8"/>
          <p:cNvSpPr/>
          <p:nvPr/>
        </p:nvSpPr>
        <p:spPr>
          <a:xfrm>
            <a:off x="2889504" y="1874520"/>
            <a:ext cx="2029968" cy="3566160"/>
          </a:xfrm>
          <a:prstGeom prst="roundRect">
            <a:avLst>
              <a:gd name="adj" fmla="val 4505"/>
            </a:avLst>
          </a:prstGeom>
          <a:solidFill>
            <a:srgbClr val="FFFFFF"/>
          </a:solidFill>
          <a:ln/>
          <a:effectLst>
            <a:outerShdw sx="100000" sy="100000" kx="0" ky="0" algn="bl" rotWithShape="0" blurRad="127000" dist="38100" dir="5400000">
              <a:srgbClr val="0A2647">
                <a:alpha val="12000"/>
              </a:srgbClr>
            </a:outerShdw>
          </a:effectLst>
        </p:spPr>
      </p:sp>
      <p:sp>
        <p:nvSpPr>
          <p:cNvPr id="11" name="Shape 9"/>
          <p:cNvSpPr/>
          <p:nvPr/>
        </p:nvSpPr>
        <p:spPr>
          <a:xfrm>
            <a:off x="2889504" y="1874520"/>
            <a:ext cx="2029968" cy="109728"/>
          </a:xfrm>
          <a:prstGeom prst="roundRect">
            <a:avLst/>
          </a:prstGeom>
          <a:solidFill>
            <a:srgbClr val="2C74B3"/>
          </a:solidFill>
          <a:ln/>
        </p:spPr>
      </p:sp>
      <p:sp>
        <p:nvSpPr>
          <p:cNvPr id="12" name="Text 10"/>
          <p:cNvSpPr/>
          <p:nvPr/>
        </p:nvSpPr>
        <p:spPr>
          <a:xfrm>
            <a:off x="3072384" y="2148840"/>
            <a:ext cx="1664208" cy="457200"/>
          </a:xfrm>
          <a:prstGeom prst="rect">
            <a:avLst/>
          </a:prstGeom>
          <a:noFill/>
          <a:ln/>
        </p:spPr>
        <p:txBody>
          <a:bodyPr wrap="square" lIns="0" tIns="0" rIns="0" bIns="0" rtlCol="0" anchor="ctr"/>
          <a:lstStyle/>
          <a:p>
            <a:pPr indent="0" marL="0">
              <a:buNone/>
            </a:pPr>
            <a:r>
              <a:rPr lang="en-US" sz="2200" b="1" dirty="0">
                <a:solidFill>
                  <a:srgbClr val="C7D9EC"/>
                </a:solidFill>
                <a:latin typeface="Cambria" pitchFamily="34" charset="0"/>
                <a:ea typeface="Cambria" pitchFamily="34" charset="-122"/>
                <a:cs typeface="Cambria" pitchFamily="34" charset="-120"/>
              </a:rPr>
              <a:t>02</a:t>
            </a:r>
            <a:endParaRPr lang="en-US" sz="2200" dirty="0"/>
          </a:p>
        </p:txBody>
      </p:sp>
      <p:sp>
        <p:nvSpPr>
          <p:cNvPr id="13" name="Text 11"/>
          <p:cNvSpPr/>
          <p:nvPr/>
        </p:nvSpPr>
        <p:spPr>
          <a:xfrm>
            <a:off x="3072384" y="2743200"/>
            <a:ext cx="1664208" cy="685800"/>
          </a:xfrm>
          <a:prstGeom prst="rect">
            <a:avLst/>
          </a:prstGeom>
          <a:noFill/>
          <a:ln/>
        </p:spPr>
        <p:txBody>
          <a:bodyPr wrap="square" lIns="0" tIns="0" rIns="0" bIns="0" rtlCol="0" anchor="ctr"/>
          <a:lstStyle/>
          <a:p>
            <a:pPr indent="0" marL="0">
              <a:lnSpc>
                <a:spcPts val="1700"/>
              </a:lnSpc>
              <a:buNone/>
            </a:pPr>
            <a:r>
              <a:rPr lang="en-US" sz="1400" b="1" dirty="0">
                <a:solidFill>
                  <a:srgbClr val="0A2647"/>
                </a:solidFill>
                <a:latin typeface="Calibri" pitchFamily="34" charset="0"/>
                <a:ea typeface="Calibri" pitchFamily="34" charset="-122"/>
                <a:cs typeface="Calibri" pitchFamily="34" charset="-120"/>
              </a:rPr>
              <a:t>Telemedicine</a:t>
            </a:r>
            <a:endParaRPr lang="en-US" sz="1400" dirty="0"/>
          </a:p>
        </p:txBody>
      </p:sp>
      <p:sp>
        <p:nvSpPr>
          <p:cNvPr id="14" name="Text 12"/>
          <p:cNvSpPr/>
          <p:nvPr/>
        </p:nvSpPr>
        <p:spPr>
          <a:xfrm>
            <a:off x="3072384" y="3474720"/>
            <a:ext cx="1664208" cy="1737360"/>
          </a:xfrm>
          <a:prstGeom prst="rect">
            <a:avLst/>
          </a:prstGeom>
          <a:noFill/>
          <a:ln/>
        </p:spPr>
        <p:txBody>
          <a:bodyPr wrap="square" lIns="0" tIns="0" rIns="0" bIns="0" rtlCol="0" anchor="ctr"/>
          <a:lstStyle/>
          <a:p>
            <a:pPr indent="0" marL="0">
              <a:lnSpc>
                <a:spcPts val="1400"/>
              </a:lnSpc>
              <a:buNone/>
            </a:pPr>
            <a:r>
              <a:rPr lang="en-US" sz="1050" dirty="0">
                <a:solidFill>
                  <a:srgbClr val="5B7A9D"/>
                </a:solidFill>
                <a:latin typeface="Calibri" pitchFamily="34" charset="0"/>
                <a:ea typeface="Calibri" pitchFamily="34" charset="-122"/>
                <a:cs typeface="Calibri" pitchFamily="34" charset="-120"/>
              </a:rPr>
              <a:t>Integrated video consultation for remote doctor visits.</a:t>
            </a:r>
            <a:endParaRPr lang="en-US" sz="1050" dirty="0"/>
          </a:p>
        </p:txBody>
      </p:sp>
      <p:sp>
        <p:nvSpPr>
          <p:cNvPr id="15" name="Shape 13"/>
          <p:cNvSpPr/>
          <p:nvPr/>
        </p:nvSpPr>
        <p:spPr>
          <a:xfrm>
            <a:off x="5138928" y="1874520"/>
            <a:ext cx="2029968" cy="3566160"/>
          </a:xfrm>
          <a:prstGeom prst="roundRect">
            <a:avLst>
              <a:gd name="adj" fmla="val 4505"/>
            </a:avLst>
          </a:prstGeom>
          <a:solidFill>
            <a:srgbClr val="FFFFFF"/>
          </a:solidFill>
          <a:ln/>
          <a:effectLst>
            <a:outerShdw sx="100000" sy="100000" kx="0" ky="0" algn="bl" rotWithShape="0" blurRad="127000" dist="38100" dir="5400000">
              <a:srgbClr val="0A2647">
                <a:alpha val="12000"/>
              </a:srgbClr>
            </a:outerShdw>
          </a:effectLst>
        </p:spPr>
      </p:sp>
      <p:sp>
        <p:nvSpPr>
          <p:cNvPr id="16" name="Shape 14"/>
          <p:cNvSpPr/>
          <p:nvPr/>
        </p:nvSpPr>
        <p:spPr>
          <a:xfrm>
            <a:off x="5138928" y="1874520"/>
            <a:ext cx="2029968" cy="109728"/>
          </a:xfrm>
          <a:prstGeom prst="roundRect">
            <a:avLst/>
          </a:prstGeom>
          <a:solidFill>
            <a:srgbClr val="205295"/>
          </a:solidFill>
          <a:ln/>
        </p:spPr>
      </p:sp>
      <p:sp>
        <p:nvSpPr>
          <p:cNvPr id="17" name="Text 15"/>
          <p:cNvSpPr/>
          <p:nvPr/>
        </p:nvSpPr>
        <p:spPr>
          <a:xfrm>
            <a:off x="5321808" y="2148840"/>
            <a:ext cx="1664208" cy="457200"/>
          </a:xfrm>
          <a:prstGeom prst="rect">
            <a:avLst/>
          </a:prstGeom>
          <a:noFill/>
          <a:ln/>
        </p:spPr>
        <p:txBody>
          <a:bodyPr wrap="square" lIns="0" tIns="0" rIns="0" bIns="0" rtlCol="0" anchor="ctr"/>
          <a:lstStyle/>
          <a:p>
            <a:pPr indent="0" marL="0">
              <a:buNone/>
            </a:pPr>
            <a:r>
              <a:rPr lang="en-US" sz="2200" b="1" dirty="0">
                <a:solidFill>
                  <a:srgbClr val="C7D9EC"/>
                </a:solidFill>
                <a:latin typeface="Cambria" pitchFamily="34" charset="0"/>
                <a:ea typeface="Cambria" pitchFamily="34" charset="-122"/>
                <a:cs typeface="Cambria" pitchFamily="34" charset="-120"/>
              </a:rPr>
              <a:t>03</a:t>
            </a:r>
            <a:endParaRPr lang="en-US" sz="2200" dirty="0"/>
          </a:p>
        </p:txBody>
      </p:sp>
      <p:sp>
        <p:nvSpPr>
          <p:cNvPr id="18" name="Text 16"/>
          <p:cNvSpPr/>
          <p:nvPr/>
        </p:nvSpPr>
        <p:spPr>
          <a:xfrm>
            <a:off x="5321808" y="2743200"/>
            <a:ext cx="1664208" cy="685800"/>
          </a:xfrm>
          <a:prstGeom prst="rect">
            <a:avLst/>
          </a:prstGeom>
          <a:noFill/>
          <a:ln/>
        </p:spPr>
        <p:txBody>
          <a:bodyPr wrap="square" lIns="0" tIns="0" rIns="0" bIns="0" rtlCol="0" anchor="ctr"/>
          <a:lstStyle/>
          <a:p>
            <a:pPr indent="0" marL="0">
              <a:lnSpc>
                <a:spcPts val="1700"/>
              </a:lnSpc>
              <a:buNone/>
            </a:pPr>
            <a:r>
              <a:rPr lang="en-US" sz="1400" b="1" dirty="0">
                <a:solidFill>
                  <a:srgbClr val="0A2647"/>
                </a:solidFill>
                <a:latin typeface="Calibri" pitchFamily="34" charset="0"/>
                <a:ea typeface="Calibri" pitchFamily="34" charset="-122"/>
                <a:cs typeface="Calibri" pitchFamily="34" charset="-120"/>
              </a:rPr>
              <a:t>AI Recommendations</a:t>
            </a:r>
            <a:endParaRPr lang="en-US" sz="1400" dirty="0"/>
          </a:p>
        </p:txBody>
      </p:sp>
      <p:sp>
        <p:nvSpPr>
          <p:cNvPr id="19" name="Text 17"/>
          <p:cNvSpPr/>
          <p:nvPr/>
        </p:nvSpPr>
        <p:spPr>
          <a:xfrm>
            <a:off x="5321808" y="3474720"/>
            <a:ext cx="1664208" cy="1737360"/>
          </a:xfrm>
          <a:prstGeom prst="rect">
            <a:avLst/>
          </a:prstGeom>
          <a:noFill/>
          <a:ln/>
        </p:spPr>
        <p:txBody>
          <a:bodyPr wrap="square" lIns="0" tIns="0" rIns="0" bIns="0" rtlCol="0" anchor="ctr"/>
          <a:lstStyle/>
          <a:p>
            <a:pPr indent="0" marL="0">
              <a:lnSpc>
                <a:spcPts val="1400"/>
              </a:lnSpc>
              <a:buNone/>
            </a:pPr>
            <a:r>
              <a:rPr lang="en-US" sz="1050" dirty="0">
                <a:solidFill>
                  <a:srgbClr val="5B7A9D"/>
                </a:solidFill>
                <a:latin typeface="Calibri" pitchFamily="34" charset="0"/>
                <a:ea typeface="Calibri" pitchFamily="34" charset="-122"/>
                <a:cs typeface="Calibri" pitchFamily="34" charset="-120"/>
              </a:rPr>
              <a:t>AI-based doctor recommendation based on symptoms and history.</a:t>
            </a:r>
            <a:endParaRPr lang="en-US" sz="1050" dirty="0"/>
          </a:p>
        </p:txBody>
      </p:sp>
      <p:sp>
        <p:nvSpPr>
          <p:cNvPr id="20" name="Shape 18"/>
          <p:cNvSpPr/>
          <p:nvPr/>
        </p:nvSpPr>
        <p:spPr>
          <a:xfrm>
            <a:off x="7388352" y="1874520"/>
            <a:ext cx="2029968" cy="3566160"/>
          </a:xfrm>
          <a:prstGeom prst="roundRect">
            <a:avLst>
              <a:gd name="adj" fmla="val 4505"/>
            </a:avLst>
          </a:prstGeom>
          <a:solidFill>
            <a:srgbClr val="FFFFFF"/>
          </a:solidFill>
          <a:ln/>
          <a:effectLst>
            <a:outerShdw sx="100000" sy="100000" kx="0" ky="0" algn="bl" rotWithShape="0" blurRad="127000" dist="38100" dir="5400000">
              <a:srgbClr val="0A2647">
                <a:alpha val="12000"/>
              </a:srgbClr>
            </a:outerShdw>
          </a:effectLst>
        </p:spPr>
      </p:sp>
      <p:sp>
        <p:nvSpPr>
          <p:cNvPr id="21" name="Shape 19"/>
          <p:cNvSpPr/>
          <p:nvPr/>
        </p:nvSpPr>
        <p:spPr>
          <a:xfrm>
            <a:off x="7388352" y="1874520"/>
            <a:ext cx="2029968" cy="109728"/>
          </a:xfrm>
          <a:prstGeom prst="roundRect">
            <a:avLst/>
          </a:prstGeom>
          <a:solidFill>
            <a:srgbClr val="2C74B3"/>
          </a:solidFill>
          <a:ln/>
        </p:spPr>
      </p:sp>
      <p:sp>
        <p:nvSpPr>
          <p:cNvPr id="22" name="Text 20"/>
          <p:cNvSpPr/>
          <p:nvPr/>
        </p:nvSpPr>
        <p:spPr>
          <a:xfrm>
            <a:off x="7571232" y="2148840"/>
            <a:ext cx="1664208" cy="457200"/>
          </a:xfrm>
          <a:prstGeom prst="rect">
            <a:avLst/>
          </a:prstGeom>
          <a:noFill/>
          <a:ln/>
        </p:spPr>
        <p:txBody>
          <a:bodyPr wrap="square" lIns="0" tIns="0" rIns="0" bIns="0" rtlCol="0" anchor="ctr"/>
          <a:lstStyle/>
          <a:p>
            <a:pPr indent="0" marL="0">
              <a:buNone/>
            </a:pPr>
            <a:r>
              <a:rPr lang="en-US" sz="2200" b="1" dirty="0">
                <a:solidFill>
                  <a:srgbClr val="C7D9EC"/>
                </a:solidFill>
                <a:latin typeface="Cambria" pitchFamily="34" charset="0"/>
                <a:ea typeface="Cambria" pitchFamily="34" charset="-122"/>
                <a:cs typeface="Cambria" pitchFamily="34" charset="-120"/>
              </a:rPr>
              <a:t>04</a:t>
            </a:r>
            <a:endParaRPr lang="en-US" sz="2200" dirty="0"/>
          </a:p>
        </p:txBody>
      </p:sp>
      <p:sp>
        <p:nvSpPr>
          <p:cNvPr id="23" name="Text 21"/>
          <p:cNvSpPr/>
          <p:nvPr/>
        </p:nvSpPr>
        <p:spPr>
          <a:xfrm>
            <a:off x="7571232" y="2743200"/>
            <a:ext cx="1664208" cy="685800"/>
          </a:xfrm>
          <a:prstGeom prst="rect">
            <a:avLst/>
          </a:prstGeom>
          <a:noFill/>
          <a:ln/>
        </p:spPr>
        <p:txBody>
          <a:bodyPr wrap="square" lIns="0" tIns="0" rIns="0" bIns="0" rtlCol="0" anchor="ctr"/>
          <a:lstStyle/>
          <a:p>
            <a:pPr indent="0" marL="0">
              <a:lnSpc>
                <a:spcPts val="1700"/>
              </a:lnSpc>
              <a:buNone/>
            </a:pPr>
            <a:r>
              <a:rPr lang="en-US" sz="1400" b="1" dirty="0">
                <a:solidFill>
                  <a:srgbClr val="0A2647"/>
                </a:solidFill>
                <a:latin typeface="Calibri" pitchFamily="34" charset="0"/>
                <a:ea typeface="Calibri" pitchFamily="34" charset="-122"/>
                <a:cs typeface="Calibri" pitchFamily="34" charset="-120"/>
              </a:rPr>
              <a:t>Payment Gateway</a:t>
            </a:r>
            <a:endParaRPr lang="en-US" sz="1400" dirty="0"/>
          </a:p>
        </p:txBody>
      </p:sp>
      <p:sp>
        <p:nvSpPr>
          <p:cNvPr id="24" name="Text 22"/>
          <p:cNvSpPr/>
          <p:nvPr/>
        </p:nvSpPr>
        <p:spPr>
          <a:xfrm>
            <a:off x="7571232" y="3474720"/>
            <a:ext cx="1664208" cy="1737360"/>
          </a:xfrm>
          <a:prstGeom prst="rect">
            <a:avLst/>
          </a:prstGeom>
          <a:noFill/>
          <a:ln/>
        </p:spPr>
        <p:txBody>
          <a:bodyPr wrap="square" lIns="0" tIns="0" rIns="0" bIns="0" rtlCol="0" anchor="ctr"/>
          <a:lstStyle/>
          <a:p>
            <a:pPr indent="0" marL="0">
              <a:lnSpc>
                <a:spcPts val="1400"/>
              </a:lnSpc>
              <a:buNone/>
            </a:pPr>
            <a:r>
              <a:rPr lang="en-US" sz="1050" dirty="0">
                <a:solidFill>
                  <a:srgbClr val="5B7A9D"/>
                </a:solidFill>
                <a:latin typeface="Calibri" pitchFamily="34" charset="0"/>
                <a:ea typeface="Calibri" pitchFamily="34" charset="-122"/>
                <a:cs typeface="Calibri" pitchFamily="34" charset="-120"/>
              </a:rPr>
              <a:t>Secure online payment integration for consultation fees.</a:t>
            </a:r>
            <a:endParaRPr lang="en-US" sz="1050" dirty="0"/>
          </a:p>
        </p:txBody>
      </p:sp>
      <p:sp>
        <p:nvSpPr>
          <p:cNvPr id="25" name="Shape 23"/>
          <p:cNvSpPr/>
          <p:nvPr/>
        </p:nvSpPr>
        <p:spPr>
          <a:xfrm>
            <a:off x="9637776" y="1874520"/>
            <a:ext cx="2029968" cy="3566160"/>
          </a:xfrm>
          <a:prstGeom prst="roundRect">
            <a:avLst>
              <a:gd name="adj" fmla="val 4505"/>
            </a:avLst>
          </a:prstGeom>
          <a:solidFill>
            <a:srgbClr val="FFFFFF"/>
          </a:solidFill>
          <a:ln/>
          <a:effectLst>
            <a:outerShdw sx="100000" sy="100000" kx="0" ky="0" algn="bl" rotWithShape="0" blurRad="127000" dist="38100" dir="5400000">
              <a:srgbClr val="0A2647">
                <a:alpha val="12000"/>
              </a:srgbClr>
            </a:outerShdw>
          </a:effectLst>
        </p:spPr>
      </p:sp>
      <p:sp>
        <p:nvSpPr>
          <p:cNvPr id="26" name="Shape 24"/>
          <p:cNvSpPr/>
          <p:nvPr/>
        </p:nvSpPr>
        <p:spPr>
          <a:xfrm>
            <a:off x="9637776" y="1874520"/>
            <a:ext cx="2029968" cy="109728"/>
          </a:xfrm>
          <a:prstGeom prst="roundRect">
            <a:avLst/>
          </a:prstGeom>
          <a:solidFill>
            <a:srgbClr val="205295"/>
          </a:solidFill>
          <a:ln/>
        </p:spPr>
      </p:sp>
      <p:sp>
        <p:nvSpPr>
          <p:cNvPr id="27" name="Text 25"/>
          <p:cNvSpPr/>
          <p:nvPr/>
        </p:nvSpPr>
        <p:spPr>
          <a:xfrm>
            <a:off x="9820656" y="2148840"/>
            <a:ext cx="1664208" cy="457200"/>
          </a:xfrm>
          <a:prstGeom prst="rect">
            <a:avLst/>
          </a:prstGeom>
          <a:noFill/>
          <a:ln/>
        </p:spPr>
        <p:txBody>
          <a:bodyPr wrap="square" lIns="0" tIns="0" rIns="0" bIns="0" rtlCol="0" anchor="ctr"/>
          <a:lstStyle/>
          <a:p>
            <a:pPr indent="0" marL="0">
              <a:buNone/>
            </a:pPr>
            <a:r>
              <a:rPr lang="en-US" sz="2200" b="1" dirty="0">
                <a:solidFill>
                  <a:srgbClr val="C7D9EC"/>
                </a:solidFill>
                <a:latin typeface="Cambria" pitchFamily="34" charset="0"/>
                <a:ea typeface="Cambria" pitchFamily="34" charset="-122"/>
                <a:cs typeface="Cambria" pitchFamily="34" charset="-120"/>
              </a:rPr>
              <a:t>05</a:t>
            </a:r>
            <a:endParaRPr lang="en-US" sz="2200" dirty="0"/>
          </a:p>
        </p:txBody>
      </p:sp>
      <p:sp>
        <p:nvSpPr>
          <p:cNvPr id="28" name="Text 26"/>
          <p:cNvSpPr/>
          <p:nvPr/>
        </p:nvSpPr>
        <p:spPr>
          <a:xfrm>
            <a:off x="9820656" y="2743200"/>
            <a:ext cx="1664208" cy="685800"/>
          </a:xfrm>
          <a:prstGeom prst="rect">
            <a:avLst/>
          </a:prstGeom>
          <a:noFill/>
          <a:ln/>
        </p:spPr>
        <p:txBody>
          <a:bodyPr wrap="square" lIns="0" tIns="0" rIns="0" bIns="0" rtlCol="0" anchor="ctr"/>
          <a:lstStyle/>
          <a:p>
            <a:pPr indent="0" marL="0">
              <a:lnSpc>
                <a:spcPts val="1700"/>
              </a:lnSpc>
              <a:buNone/>
            </a:pPr>
            <a:r>
              <a:rPr lang="en-US" sz="1400" b="1" dirty="0">
                <a:solidFill>
                  <a:srgbClr val="0A2647"/>
                </a:solidFill>
                <a:latin typeface="Calibri" pitchFamily="34" charset="0"/>
                <a:ea typeface="Calibri" pitchFamily="34" charset="-122"/>
                <a:cs typeface="Calibri" pitchFamily="34" charset="-120"/>
              </a:rPr>
              <a:t>Multi-Hospital Support</a:t>
            </a:r>
            <a:endParaRPr lang="en-US" sz="1400" dirty="0"/>
          </a:p>
        </p:txBody>
      </p:sp>
      <p:sp>
        <p:nvSpPr>
          <p:cNvPr id="29" name="Text 27"/>
          <p:cNvSpPr/>
          <p:nvPr/>
        </p:nvSpPr>
        <p:spPr>
          <a:xfrm>
            <a:off x="9820656" y="3474720"/>
            <a:ext cx="1664208" cy="1737360"/>
          </a:xfrm>
          <a:prstGeom prst="rect">
            <a:avLst/>
          </a:prstGeom>
          <a:noFill/>
          <a:ln/>
        </p:spPr>
        <p:txBody>
          <a:bodyPr wrap="square" lIns="0" tIns="0" rIns="0" bIns="0" rtlCol="0" anchor="ctr"/>
          <a:lstStyle/>
          <a:p>
            <a:pPr indent="0" marL="0">
              <a:lnSpc>
                <a:spcPts val="1400"/>
              </a:lnSpc>
              <a:buNone/>
            </a:pPr>
            <a:r>
              <a:rPr lang="en-US" sz="1050" dirty="0">
                <a:solidFill>
                  <a:srgbClr val="5B7A9D"/>
                </a:solidFill>
                <a:latin typeface="Calibri" pitchFamily="34" charset="0"/>
                <a:ea typeface="Calibri" pitchFamily="34" charset="-122"/>
                <a:cs typeface="Calibri" pitchFamily="34" charset="-120"/>
              </a:rPr>
              <a:t>Extend the platform across multiple hospitals and branches.</a:t>
            </a:r>
            <a:endParaRPr lang="en-US" sz="1050" dirty="0"/>
          </a:p>
        </p:txBody>
      </p:sp>
      <p:sp>
        <p:nvSpPr>
          <p:cNvPr id="31" name="Text 28"/>
          <p:cNvSpPr/>
          <p:nvPr/>
        </p:nvSpPr>
        <p:spPr>
          <a:xfrm>
            <a:off x="11612880" y="6446520"/>
            <a:ext cx="457200" cy="274320"/>
          </a:xfrm>
          <a:prstGeom prst="rect">
            <a:avLst/>
          </a:prstGeom>
          <a:noFill/>
          <a:ln/>
        </p:spPr>
        <p:txBody>
          <a:bodyPr wrap="square" rtlCol="0" anchor="ctr"/>
          <a:lstStyle/>
          <a:p>
            <a:pPr algn="r" indent="0" marL="0">
              <a:buNone/>
            </a:pPr>
            <a:r>
              <a:rPr lang="en-US" sz="1100" dirty="0">
                <a:solidFill>
                  <a:srgbClr val="5B7A9D"/>
                </a:solidFill>
                <a:latin typeface="Calibri" pitchFamily="34" charset="0"/>
                <a:ea typeface="Calibri" pitchFamily="34" charset="-122"/>
                <a:cs typeface="Calibri" pitchFamily="34" charset="-120"/>
              </a:rPr>
              <a:t>8</a:t>
            </a:r>
            <a:endParaRPr lang="en-US" sz="1100" dirty="0"/>
          </a:p>
        </p:txBody>
      </p:sp>
      <p:sp>
        <p:nvSpPr>
          <p:cNvPr id="32" name="Text 29"/>
          <p:cNvSpPr/>
          <p:nvPr/>
        </p:nvSpPr>
        <p:spPr>
          <a:xfrm>
            <a:off x="640080" y="6446520"/>
            <a:ext cx="6400800" cy="274320"/>
          </a:xfrm>
          <a:prstGeom prst="rect">
            <a:avLst/>
          </a:prstGeom>
          <a:noFill/>
          <a:ln/>
        </p:spPr>
        <p:txBody>
          <a:bodyPr wrap="square" rtlCol="0" anchor="ctr"/>
          <a:lstStyle/>
          <a:p>
            <a:pPr indent="0" marL="0">
              <a:buNone/>
            </a:pPr>
            <a:r>
              <a:rPr lang="en-US" sz="900" spc="150" kern="0" dirty="0">
                <a:solidFill>
                  <a:srgbClr val="A9BBD0"/>
                </a:solidFill>
                <a:latin typeface="Calibri" pitchFamily="34" charset="0"/>
                <a:ea typeface="Calibri" pitchFamily="34" charset="-122"/>
                <a:cs typeface="Calibri" pitchFamily="34" charset="-120"/>
              </a:rPr>
              <a:t>HEALTHCARE APPOINTMENT BOOKING SYSTEM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647"/>
        </a:solidFill>
      </p:bgPr>
    </p:bg>
    <p:spTree>
      <p:nvGrpSpPr>
        <p:cNvPr id="1" name=""/>
        <p:cNvGrpSpPr/>
        <p:nvPr/>
      </p:nvGrpSpPr>
      <p:grpSpPr>
        <a:xfrm>
          <a:off x="0" y="0"/>
          <a:ext cx="0" cy="0"/>
          <a:chOff x="0" y="0"/>
          <a:chExt cx="0" cy="0"/>
        </a:xfrm>
      </p:grpSpPr>
      <p:sp>
        <p:nvSpPr>
          <p:cNvPr id="2" name="Shape 0"/>
          <p:cNvSpPr/>
          <p:nvPr/>
        </p:nvSpPr>
        <p:spPr>
          <a:xfrm>
            <a:off x="8686800" y="-2286000"/>
            <a:ext cx="6400800" cy="6400800"/>
          </a:xfrm>
          <a:prstGeom prst="ellipse">
            <a:avLst/>
          </a:prstGeom>
          <a:solidFill>
            <a:srgbClr val="144272">
              <a:alpha val="65000"/>
            </a:srgbClr>
          </a:solidFill>
          <a:ln/>
        </p:spPr>
      </p:sp>
      <p:sp>
        <p:nvSpPr>
          <p:cNvPr id="3" name="Shape 1"/>
          <p:cNvSpPr/>
          <p:nvPr/>
        </p:nvSpPr>
        <p:spPr>
          <a:xfrm>
            <a:off x="9692640" y="3474720"/>
            <a:ext cx="3840480" cy="3840480"/>
          </a:xfrm>
          <a:prstGeom prst="ellipse">
            <a:avLst/>
          </a:prstGeom>
          <a:solidFill>
            <a:srgbClr val="205295">
              <a:alpha val="55000"/>
            </a:srgbClr>
          </a:solidFill>
          <a:ln/>
        </p:spPr>
      </p:sp>
      <p:sp>
        <p:nvSpPr>
          <p:cNvPr id="4" name="Text 2"/>
          <p:cNvSpPr/>
          <p:nvPr/>
        </p:nvSpPr>
        <p:spPr>
          <a:xfrm>
            <a:off x="640080" y="685800"/>
            <a:ext cx="5486400" cy="502920"/>
          </a:xfrm>
          <a:prstGeom prst="rect">
            <a:avLst/>
          </a:prstGeom>
          <a:noFill/>
          <a:ln/>
        </p:spPr>
        <p:txBody>
          <a:bodyPr wrap="square" rtlCol="0" anchor="ctr"/>
          <a:lstStyle/>
          <a:p>
            <a:pPr indent="0" marL="0">
              <a:buNone/>
            </a:pPr>
            <a:r>
              <a:rPr lang="en-US" sz="1300" b="1" spc="300" kern="0" dirty="0">
                <a:solidFill>
                  <a:srgbClr val="5DE0E6"/>
                </a:solidFill>
                <a:latin typeface="Calibri" pitchFamily="34" charset="0"/>
                <a:ea typeface="Calibri" pitchFamily="34" charset="-122"/>
                <a:cs typeface="Calibri" pitchFamily="34" charset="-120"/>
              </a:rPr>
              <a:t>CONCLUSION</a:t>
            </a:r>
            <a:endParaRPr lang="en-US" sz="1300" dirty="0"/>
          </a:p>
        </p:txBody>
      </p:sp>
      <p:sp>
        <p:nvSpPr>
          <p:cNvPr id="5" name="Text 3"/>
          <p:cNvSpPr/>
          <p:nvPr/>
        </p:nvSpPr>
        <p:spPr>
          <a:xfrm>
            <a:off x="640080" y="1051560"/>
            <a:ext cx="6949440" cy="1371600"/>
          </a:xfrm>
          <a:prstGeom prst="rect">
            <a:avLst/>
          </a:prstGeom>
          <a:noFill/>
          <a:ln/>
        </p:spPr>
        <p:txBody>
          <a:bodyPr wrap="square" lIns="0" tIns="0" rIns="0" bIns="0" rtlCol="0" anchor="ctr"/>
          <a:lstStyle/>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A Smarter Way to Book</a:t>
            </a:r>
            <a:endParaRPr lang="en-US" sz="3000" dirty="0"/>
          </a:p>
          <a:p>
            <a:pPr indent="0" marL="0">
              <a:lnSpc>
                <a:spcPts val="3600"/>
              </a:lnSpc>
              <a:buNone/>
            </a:pPr>
            <a:r>
              <a:rPr lang="en-US" sz="3000" b="1" dirty="0">
                <a:solidFill>
                  <a:srgbClr val="FFFFFF"/>
                </a:solidFill>
                <a:latin typeface="Cambria" pitchFamily="34" charset="0"/>
                <a:ea typeface="Cambria" pitchFamily="34" charset="-122"/>
                <a:cs typeface="Cambria" pitchFamily="34" charset="-120"/>
              </a:rPr>
              <a:t>Healthcare Appointments</a:t>
            </a:r>
            <a:endParaRPr lang="en-US" sz="3000" dirty="0"/>
          </a:p>
        </p:txBody>
      </p:sp>
      <p:sp>
        <p:nvSpPr>
          <p:cNvPr id="6" name="Shape 4"/>
          <p:cNvSpPr/>
          <p:nvPr/>
        </p:nvSpPr>
        <p:spPr>
          <a:xfrm>
            <a:off x="640080" y="2788920"/>
            <a:ext cx="146304" cy="146304"/>
          </a:xfrm>
          <a:prstGeom prst="ellipse">
            <a:avLst/>
          </a:prstGeom>
          <a:solidFill>
            <a:srgbClr val="5DE0E6"/>
          </a:solidFill>
          <a:ln/>
        </p:spPr>
      </p:sp>
      <p:sp>
        <p:nvSpPr>
          <p:cNvPr id="7" name="Text 5"/>
          <p:cNvSpPr/>
          <p:nvPr/>
        </p:nvSpPr>
        <p:spPr>
          <a:xfrm>
            <a:off x="960120" y="2651760"/>
            <a:ext cx="6400800" cy="502920"/>
          </a:xfrm>
          <a:prstGeom prst="rect">
            <a:avLst/>
          </a:prstGeom>
          <a:noFill/>
          <a:ln/>
        </p:spPr>
        <p:txBody>
          <a:bodyPr wrap="square" lIns="0" tIns="0" rIns="0" bIns="0" rtlCol="0" anchor="ctr"/>
          <a:lstStyle/>
          <a:p>
            <a:pPr indent="0" marL="0">
              <a:buNone/>
            </a:pPr>
            <a:r>
              <a:rPr lang="en-US" sz="1400" dirty="0">
                <a:solidFill>
                  <a:srgbClr val="E4F0FB"/>
                </a:solidFill>
                <a:latin typeface="Calibri" pitchFamily="34" charset="0"/>
                <a:ea typeface="Calibri" pitchFamily="34" charset="-122"/>
                <a:cs typeface="Calibri" pitchFamily="34" charset="-120"/>
              </a:rPr>
              <a:t>A secure, automated, and cloud-native appointment booking solution</a:t>
            </a:r>
            <a:endParaRPr lang="en-US" sz="1400" dirty="0"/>
          </a:p>
        </p:txBody>
      </p:sp>
      <p:sp>
        <p:nvSpPr>
          <p:cNvPr id="8" name="Shape 6"/>
          <p:cNvSpPr/>
          <p:nvPr/>
        </p:nvSpPr>
        <p:spPr>
          <a:xfrm>
            <a:off x="640080" y="3383280"/>
            <a:ext cx="146304" cy="146304"/>
          </a:xfrm>
          <a:prstGeom prst="ellipse">
            <a:avLst/>
          </a:prstGeom>
          <a:solidFill>
            <a:srgbClr val="5DE0E6"/>
          </a:solidFill>
          <a:ln/>
        </p:spPr>
      </p:sp>
      <p:sp>
        <p:nvSpPr>
          <p:cNvPr id="9" name="Text 7"/>
          <p:cNvSpPr/>
          <p:nvPr/>
        </p:nvSpPr>
        <p:spPr>
          <a:xfrm>
            <a:off x="960120" y="3246120"/>
            <a:ext cx="6400800" cy="502920"/>
          </a:xfrm>
          <a:prstGeom prst="rect">
            <a:avLst/>
          </a:prstGeom>
          <a:noFill/>
          <a:ln/>
        </p:spPr>
        <p:txBody>
          <a:bodyPr wrap="square" lIns="0" tIns="0" rIns="0" bIns="0" rtlCol="0" anchor="ctr"/>
          <a:lstStyle/>
          <a:p>
            <a:pPr indent="0" marL="0">
              <a:buNone/>
            </a:pPr>
            <a:r>
              <a:rPr lang="en-US" sz="1400" dirty="0">
                <a:solidFill>
                  <a:srgbClr val="E4F0FB"/>
                </a:solidFill>
                <a:latin typeface="Calibri" pitchFamily="34" charset="0"/>
                <a:ea typeface="Calibri" pitchFamily="34" charset="-122"/>
                <a:cs typeface="Calibri" pitchFamily="34" charset="-120"/>
              </a:rPr>
              <a:t>Eliminates long queues and manual scheduling errors</a:t>
            </a:r>
            <a:endParaRPr lang="en-US" sz="1400" dirty="0"/>
          </a:p>
        </p:txBody>
      </p:sp>
      <p:sp>
        <p:nvSpPr>
          <p:cNvPr id="10" name="Shape 8"/>
          <p:cNvSpPr/>
          <p:nvPr/>
        </p:nvSpPr>
        <p:spPr>
          <a:xfrm>
            <a:off x="640080" y="3977640"/>
            <a:ext cx="146304" cy="146304"/>
          </a:xfrm>
          <a:prstGeom prst="ellipse">
            <a:avLst/>
          </a:prstGeom>
          <a:solidFill>
            <a:srgbClr val="5DE0E6"/>
          </a:solidFill>
          <a:ln/>
        </p:spPr>
      </p:sp>
      <p:sp>
        <p:nvSpPr>
          <p:cNvPr id="11" name="Text 9"/>
          <p:cNvSpPr/>
          <p:nvPr/>
        </p:nvSpPr>
        <p:spPr>
          <a:xfrm>
            <a:off x="960120" y="3840480"/>
            <a:ext cx="6400800" cy="502920"/>
          </a:xfrm>
          <a:prstGeom prst="rect">
            <a:avLst/>
          </a:prstGeom>
          <a:noFill/>
          <a:ln/>
        </p:spPr>
        <p:txBody>
          <a:bodyPr wrap="square" lIns="0" tIns="0" rIns="0" bIns="0" rtlCol="0" anchor="ctr"/>
          <a:lstStyle/>
          <a:p>
            <a:pPr indent="0" marL="0">
              <a:buNone/>
            </a:pPr>
            <a:r>
              <a:rPr lang="en-US" sz="1400" dirty="0">
                <a:solidFill>
                  <a:srgbClr val="E4F0FB"/>
                </a:solidFill>
                <a:latin typeface="Calibri" pitchFamily="34" charset="0"/>
                <a:ea typeface="Calibri" pitchFamily="34" charset="-122"/>
                <a:cs typeface="Calibri" pitchFamily="34" charset="-120"/>
              </a:rPr>
              <a:t>Scalable using AWS serverless architecture</a:t>
            </a:r>
            <a:endParaRPr lang="en-US" sz="1400" dirty="0"/>
          </a:p>
        </p:txBody>
      </p:sp>
      <p:sp>
        <p:nvSpPr>
          <p:cNvPr id="12" name="Shape 10"/>
          <p:cNvSpPr/>
          <p:nvPr/>
        </p:nvSpPr>
        <p:spPr>
          <a:xfrm>
            <a:off x="640080" y="4572000"/>
            <a:ext cx="146304" cy="146304"/>
          </a:xfrm>
          <a:prstGeom prst="ellipse">
            <a:avLst/>
          </a:prstGeom>
          <a:solidFill>
            <a:srgbClr val="5DE0E6"/>
          </a:solidFill>
          <a:ln/>
        </p:spPr>
      </p:sp>
      <p:sp>
        <p:nvSpPr>
          <p:cNvPr id="13" name="Text 11"/>
          <p:cNvSpPr/>
          <p:nvPr/>
        </p:nvSpPr>
        <p:spPr>
          <a:xfrm>
            <a:off x="960120" y="4434840"/>
            <a:ext cx="6400800" cy="502920"/>
          </a:xfrm>
          <a:prstGeom prst="rect">
            <a:avLst/>
          </a:prstGeom>
          <a:noFill/>
          <a:ln/>
        </p:spPr>
        <p:txBody>
          <a:bodyPr wrap="square" lIns="0" tIns="0" rIns="0" bIns="0" rtlCol="0" anchor="ctr"/>
          <a:lstStyle/>
          <a:p>
            <a:pPr indent="0" marL="0">
              <a:buNone/>
            </a:pPr>
            <a:r>
              <a:rPr lang="en-US" sz="1400" dirty="0">
                <a:solidFill>
                  <a:srgbClr val="E4F0FB"/>
                </a:solidFill>
                <a:latin typeface="Calibri" pitchFamily="34" charset="0"/>
                <a:ea typeface="Calibri" pitchFamily="34" charset="-122"/>
                <a:cs typeface="Calibri" pitchFamily="34" charset="-120"/>
              </a:rPr>
              <a:t>Improves patient experience and hospital operational efficiency</a:t>
            </a:r>
            <a:endParaRPr lang="en-US" sz="1400" dirty="0"/>
          </a:p>
        </p:txBody>
      </p:sp>
      <p:sp>
        <p:nvSpPr>
          <p:cNvPr id="14" name="Shape 12"/>
          <p:cNvSpPr/>
          <p:nvPr/>
        </p:nvSpPr>
        <p:spPr>
          <a:xfrm>
            <a:off x="8686800" y="2011680"/>
            <a:ext cx="1554480" cy="1554480"/>
          </a:xfrm>
          <a:prstGeom prst="ellipse">
            <a:avLst/>
          </a:prstGeom>
          <a:solidFill>
            <a:srgbClr val="205295"/>
          </a:solidFill>
          <a:ln/>
          <a:effectLst>
            <a:outerShdw sx="100000" sy="100000" kx="0" ky="0" algn="bl" rotWithShape="0" blurRad="101600" dist="38100" dir="5400000">
              <a:srgbClr val="000000">
                <a:alpha val="30000"/>
              </a:srgbClr>
            </a:outerShdw>
          </a:effectLst>
        </p:spPr>
      </p:sp>
      <p:pic>
        <p:nvPicPr>
          <p:cNvPr id="15" name="Image 0" descr="/home/claude/icons/hospital.png">    </p:cNvPr>
          <p:cNvPicPr>
            <a:picLocks noChangeAspect="1"/>
          </p:cNvPicPr>
          <p:nvPr/>
        </p:nvPicPr>
        <p:blipFill>
          <a:blip r:embed="rId1"/>
          <a:stretch>
            <a:fillRect/>
          </a:stretch>
        </p:blipFill>
        <p:spPr>
          <a:xfrm>
            <a:off x="9036558" y="2361438"/>
            <a:ext cx="854964" cy="854964"/>
          </a:xfrm>
          <a:prstGeom prst="rect">
            <a:avLst/>
          </a:prstGeom>
        </p:spPr>
      </p:pic>
      <p:sp>
        <p:nvSpPr>
          <p:cNvPr id="16" name="Shape 13"/>
          <p:cNvSpPr/>
          <p:nvPr/>
        </p:nvSpPr>
        <p:spPr>
          <a:xfrm>
            <a:off x="7863840" y="3931920"/>
            <a:ext cx="1188720" cy="1188720"/>
          </a:xfrm>
          <a:prstGeom prst="ellipse">
            <a:avLst/>
          </a:prstGeom>
          <a:solidFill>
            <a:srgbClr val="2C74B3"/>
          </a:solidFill>
          <a:ln/>
          <a:effectLst>
            <a:outerShdw sx="100000" sy="100000" kx="0" ky="0" algn="bl" rotWithShape="0" blurRad="101600" dist="38100" dir="5400000">
              <a:srgbClr val="000000">
                <a:alpha val="30000"/>
              </a:srgbClr>
            </a:outerShdw>
          </a:effectLst>
        </p:spPr>
      </p:sp>
      <p:pic>
        <p:nvPicPr>
          <p:cNvPr id="17" name="Image 1" descr="/home/claude/icons/calendar.png">    </p:cNvPr>
          <p:cNvPicPr>
            <a:picLocks noChangeAspect="1"/>
          </p:cNvPicPr>
          <p:nvPr/>
        </p:nvPicPr>
        <p:blipFill>
          <a:blip r:embed="rId2"/>
          <a:stretch>
            <a:fillRect/>
          </a:stretch>
        </p:blipFill>
        <p:spPr>
          <a:xfrm>
            <a:off x="8131302" y="4199382"/>
            <a:ext cx="653796" cy="653796"/>
          </a:xfrm>
          <a:prstGeom prst="rect">
            <a:avLst/>
          </a:prstGeom>
        </p:spPr>
      </p:pic>
      <p:sp>
        <p:nvSpPr>
          <p:cNvPr id="18" name="Shape 14"/>
          <p:cNvSpPr/>
          <p:nvPr/>
        </p:nvSpPr>
        <p:spPr>
          <a:xfrm>
            <a:off x="9692640" y="4480560"/>
            <a:ext cx="1051560" cy="1051560"/>
          </a:xfrm>
          <a:prstGeom prst="ellipse">
            <a:avLst/>
          </a:prstGeom>
          <a:solidFill>
            <a:srgbClr val="1B4965"/>
          </a:solidFill>
          <a:ln/>
          <a:effectLst>
            <a:outerShdw sx="100000" sy="100000" kx="0" ky="0" algn="bl" rotWithShape="0" blurRad="101600" dist="38100" dir="5400000">
              <a:srgbClr val="000000">
                <a:alpha val="30000"/>
              </a:srgbClr>
            </a:outerShdw>
          </a:effectLst>
        </p:spPr>
      </p:sp>
      <p:pic>
        <p:nvPicPr>
          <p:cNvPr id="19" name="Image 2" descr="/home/claude/icons/aws.png">    </p:cNvPr>
          <p:cNvPicPr>
            <a:picLocks noChangeAspect="1"/>
          </p:cNvPicPr>
          <p:nvPr/>
        </p:nvPicPr>
        <p:blipFill>
          <a:blip r:embed="rId3"/>
          <a:stretch>
            <a:fillRect/>
          </a:stretch>
        </p:blipFill>
        <p:spPr>
          <a:xfrm>
            <a:off x="9929241" y="4717161"/>
            <a:ext cx="578358" cy="578358"/>
          </a:xfrm>
          <a:prstGeom prst="rect">
            <a:avLst/>
          </a:prstGeom>
        </p:spPr>
      </p:pic>
      <p:sp>
        <p:nvSpPr>
          <p:cNvPr id="21" name="Text 15"/>
          <p:cNvSpPr/>
          <p:nvPr/>
        </p:nvSpPr>
        <p:spPr>
          <a:xfrm>
            <a:off x="11612880" y="6446520"/>
            <a:ext cx="457200" cy="274320"/>
          </a:xfrm>
          <a:prstGeom prst="rect">
            <a:avLst/>
          </a:prstGeom>
          <a:noFill/>
          <a:ln/>
        </p:spPr>
        <p:txBody>
          <a:bodyPr wrap="square" rtlCol="0" anchor="ctr"/>
          <a:lstStyle/>
          <a:p>
            <a:pPr algn="r" indent="0" marL="0">
              <a:buNone/>
            </a:pPr>
            <a:r>
              <a:rPr lang="en-US" sz="1100" dirty="0">
                <a:solidFill>
                  <a:srgbClr val="9FB7D8"/>
                </a:solidFill>
                <a:latin typeface="Calibri" pitchFamily="34" charset="0"/>
                <a:ea typeface="Calibri" pitchFamily="34" charset="-122"/>
                <a:cs typeface="Calibri" pitchFamily="34" charset="-120"/>
              </a:rPr>
              <a:t>9</a:t>
            </a:r>
            <a:endParaRPr lang="en-US" sz="1100" dirty="0"/>
          </a:p>
        </p:txBody>
      </p:sp>
      <p:sp>
        <p:nvSpPr>
          <p:cNvPr id="22" name="Text 16"/>
          <p:cNvSpPr/>
          <p:nvPr/>
        </p:nvSpPr>
        <p:spPr>
          <a:xfrm>
            <a:off x="640080" y="6446520"/>
            <a:ext cx="6400800" cy="274320"/>
          </a:xfrm>
          <a:prstGeom prst="rect">
            <a:avLst/>
          </a:prstGeom>
          <a:noFill/>
          <a:ln/>
        </p:spPr>
        <p:txBody>
          <a:bodyPr wrap="square" rtlCol="0" anchor="ctr"/>
          <a:lstStyle/>
          <a:p>
            <a:pPr indent="0" marL="0">
              <a:buNone/>
            </a:pPr>
            <a:r>
              <a:rPr lang="en-US" sz="900" spc="150" kern="0" dirty="0">
                <a:solidFill>
                  <a:srgbClr val="6C8FB5"/>
                </a:solidFill>
                <a:latin typeface="Calibri" pitchFamily="34" charset="0"/>
                <a:ea typeface="Calibri" pitchFamily="34" charset="-122"/>
                <a:cs typeface="Calibri" pitchFamily="34" charset="-120"/>
              </a:rPr>
              <a:t>HEALTHCARE APPOINTMENT BOOKING SYSTEM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2647"/>
        </a:solidFill>
      </p:bgPr>
    </p:bg>
    <p:spTree>
      <p:nvGrpSpPr>
        <p:cNvPr id="1" name=""/>
        <p:cNvGrpSpPr/>
        <p:nvPr/>
      </p:nvGrpSpPr>
      <p:grpSpPr>
        <a:xfrm>
          <a:off x="0" y="0"/>
          <a:ext cx="0" cy="0"/>
          <a:chOff x="0" y="0"/>
          <a:chExt cx="0" cy="0"/>
        </a:xfrm>
      </p:grpSpPr>
      <p:sp>
        <p:nvSpPr>
          <p:cNvPr id="2" name="Shape 0"/>
          <p:cNvSpPr/>
          <p:nvPr/>
        </p:nvSpPr>
        <p:spPr>
          <a:xfrm>
            <a:off x="8046720" y="-2286000"/>
            <a:ext cx="7315200" cy="7315200"/>
          </a:xfrm>
          <a:prstGeom prst="ellipse">
            <a:avLst/>
          </a:prstGeom>
          <a:solidFill>
            <a:srgbClr val="144272">
              <a:alpha val="65000"/>
            </a:srgbClr>
          </a:solidFill>
          <a:ln/>
        </p:spPr>
      </p:sp>
      <p:sp>
        <p:nvSpPr>
          <p:cNvPr id="3" name="Shape 1"/>
          <p:cNvSpPr/>
          <p:nvPr/>
        </p:nvSpPr>
        <p:spPr>
          <a:xfrm>
            <a:off x="9144000" y="-1097280"/>
            <a:ext cx="5486400" cy="5486400"/>
          </a:xfrm>
          <a:prstGeom prst="ellipse">
            <a:avLst/>
          </a:prstGeom>
          <a:solidFill>
            <a:srgbClr val="205295">
              <a:alpha val="58000"/>
            </a:srgbClr>
          </a:solidFill>
          <a:ln/>
        </p:spPr>
      </p:sp>
      <p:sp>
        <p:nvSpPr>
          <p:cNvPr id="4" name="Shape 2"/>
          <p:cNvSpPr/>
          <p:nvPr/>
        </p:nvSpPr>
        <p:spPr>
          <a:xfrm>
            <a:off x="9052560" y="-548640"/>
            <a:ext cx="5852160" cy="5852160"/>
          </a:xfrm>
          <a:prstGeom prst="ellipse">
            <a:avLst/>
          </a:prstGeom>
          <a:ln w="15875">
            <a:solidFill>
              <a:srgbClr val="5DE0E6">
                <a:alpha val="60000"/>
              </a:srgbClr>
            </a:solidFill>
            <a:prstDash val="solid"/>
          </a:ln>
        </p:spPr>
      </p:sp>
      <p:sp>
        <p:nvSpPr>
          <p:cNvPr id="5" name="Shape 3"/>
          <p:cNvSpPr/>
          <p:nvPr/>
        </p:nvSpPr>
        <p:spPr>
          <a:xfrm>
            <a:off x="10607040" y="914400"/>
            <a:ext cx="1188720" cy="1188720"/>
          </a:xfrm>
          <a:prstGeom prst="ellipse">
            <a:avLst/>
          </a:prstGeom>
          <a:solidFill>
            <a:srgbClr val="205295"/>
          </a:solidFill>
          <a:ln/>
          <a:effectLst>
            <a:outerShdw sx="100000" sy="100000" kx="0" ky="0" algn="bl" rotWithShape="0" blurRad="101600" dist="38100" dir="5400000">
              <a:srgbClr val="000000">
                <a:alpha val="30000"/>
              </a:srgbClr>
            </a:outerShdw>
          </a:effectLst>
        </p:spPr>
      </p:sp>
      <p:pic>
        <p:nvPicPr>
          <p:cNvPr id="6" name="Image 0" descr="/home/claude/icons/hospital.png">    </p:cNvPr>
          <p:cNvPicPr>
            <a:picLocks noChangeAspect="1"/>
          </p:cNvPicPr>
          <p:nvPr/>
        </p:nvPicPr>
        <p:blipFill>
          <a:blip r:embed="rId1"/>
          <a:stretch>
            <a:fillRect/>
          </a:stretch>
        </p:blipFill>
        <p:spPr>
          <a:xfrm>
            <a:off x="10868558" y="1175918"/>
            <a:ext cx="665683" cy="665683"/>
          </a:xfrm>
          <a:prstGeom prst="rect">
            <a:avLst/>
          </a:prstGeom>
        </p:spPr>
      </p:pic>
      <p:sp>
        <p:nvSpPr>
          <p:cNvPr id="7" name="Shape 4"/>
          <p:cNvSpPr/>
          <p:nvPr/>
        </p:nvSpPr>
        <p:spPr>
          <a:xfrm>
            <a:off x="9326880" y="2743200"/>
            <a:ext cx="1051560" cy="1051560"/>
          </a:xfrm>
          <a:prstGeom prst="ellipse">
            <a:avLst/>
          </a:prstGeom>
          <a:solidFill>
            <a:srgbClr val="2C74B3"/>
          </a:solidFill>
          <a:ln/>
          <a:effectLst>
            <a:outerShdw sx="100000" sy="100000" kx="0" ky="0" algn="bl" rotWithShape="0" blurRad="101600" dist="38100" dir="5400000">
              <a:srgbClr val="000000">
                <a:alpha val="30000"/>
              </a:srgbClr>
            </a:outerShdw>
          </a:effectLst>
        </p:spPr>
      </p:sp>
      <p:pic>
        <p:nvPicPr>
          <p:cNvPr id="8" name="Image 1" descr="/home/claude/icons/cloud.png">    </p:cNvPr>
          <p:cNvPicPr>
            <a:picLocks noChangeAspect="1"/>
          </p:cNvPicPr>
          <p:nvPr/>
        </p:nvPicPr>
        <p:blipFill>
          <a:blip r:embed="rId2"/>
          <a:stretch>
            <a:fillRect/>
          </a:stretch>
        </p:blipFill>
        <p:spPr>
          <a:xfrm>
            <a:off x="9558223" y="2974543"/>
            <a:ext cx="588874" cy="588874"/>
          </a:xfrm>
          <a:prstGeom prst="rect">
            <a:avLst/>
          </a:prstGeom>
        </p:spPr>
      </p:pic>
      <p:sp>
        <p:nvSpPr>
          <p:cNvPr id="9" name="Shape 5"/>
          <p:cNvSpPr/>
          <p:nvPr/>
        </p:nvSpPr>
        <p:spPr>
          <a:xfrm>
            <a:off x="10972800" y="4023360"/>
            <a:ext cx="914400" cy="914400"/>
          </a:xfrm>
          <a:prstGeom prst="ellipse">
            <a:avLst/>
          </a:prstGeom>
          <a:solidFill>
            <a:srgbClr val="1B4965"/>
          </a:solidFill>
          <a:ln/>
          <a:effectLst>
            <a:outerShdw sx="100000" sy="100000" kx="0" ky="0" algn="bl" rotWithShape="0" blurRad="101600" dist="38100" dir="5400000">
              <a:srgbClr val="000000">
                <a:alpha val="30000"/>
              </a:srgbClr>
            </a:outerShdw>
          </a:effectLst>
        </p:spPr>
      </p:sp>
      <p:pic>
        <p:nvPicPr>
          <p:cNvPr id="10" name="Image 2" descr="/home/claude/icons/aws.png">    </p:cNvPr>
          <p:cNvPicPr>
            <a:picLocks noChangeAspect="1"/>
          </p:cNvPicPr>
          <p:nvPr/>
        </p:nvPicPr>
        <p:blipFill>
          <a:blip r:embed="rId3"/>
          <a:stretch>
            <a:fillRect/>
          </a:stretch>
        </p:blipFill>
        <p:spPr>
          <a:xfrm>
            <a:off x="11178540" y="4229100"/>
            <a:ext cx="502920" cy="502920"/>
          </a:xfrm>
          <a:prstGeom prst="rect">
            <a:avLst/>
          </a:prstGeom>
        </p:spPr>
      </p:pic>
      <p:sp>
        <p:nvSpPr>
          <p:cNvPr id="11" name="Shape 6"/>
          <p:cNvSpPr/>
          <p:nvPr/>
        </p:nvSpPr>
        <p:spPr>
          <a:xfrm>
            <a:off x="640080" y="2788920"/>
            <a:ext cx="502920" cy="32004"/>
          </a:xfrm>
          <a:prstGeom prst="rect">
            <a:avLst/>
          </a:prstGeom>
          <a:solidFill>
            <a:srgbClr val="5DE0E6"/>
          </a:solidFill>
          <a:ln/>
        </p:spPr>
      </p:sp>
      <p:sp>
        <p:nvSpPr>
          <p:cNvPr id="12" name="Text 7"/>
          <p:cNvSpPr/>
          <p:nvPr/>
        </p:nvSpPr>
        <p:spPr>
          <a:xfrm>
            <a:off x="640080" y="2880360"/>
            <a:ext cx="64008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13" name="Text 8"/>
          <p:cNvSpPr/>
          <p:nvPr/>
        </p:nvSpPr>
        <p:spPr>
          <a:xfrm>
            <a:off x="640080" y="3749040"/>
            <a:ext cx="6400800" cy="411480"/>
          </a:xfrm>
          <a:prstGeom prst="rect">
            <a:avLst/>
          </a:prstGeom>
          <a:noFill/>
          <a:ln/>
        </p:spPr>
        <p:txBody>
          <a:bodyPr wrap="square" lIns="0" tIns="0" rIns="0" bIns="0" rtlCol="0" anchor="ctr"/>
          <a:lstStyle/>
          <a:p>
            <a:pPr indent="0" marL="0">
              <a:buNone/>
            </a:pPr>
            <a:r>
              <a:rPr lang="en-US" sz="1400" i="1" dirty="0">
                <a:solidFill>
                  <a:srgbClr val="CFE8FF"/>
                </a:solidFill>
                <a:latin typeface="Calibri" pitchFamily="34" charset="0"/>
                <a:ea typeface="Calibri" pitchFamily="34" charset="-122"/>
                <a:cs typeface="Calibri" pitchFamily="34" charset="-120"/>
              </a:rPr>
              <a:t>Cloud-Based Healthcare Appointment Booking System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2026-07-12T15:39:15Z</dcterms:created>
  <dcterms:modified xsi:type="dcterms:W3CDTF">2026-07-12T15:39:15Z</dcterms:modified>
</cp:coreProperties>
</file>